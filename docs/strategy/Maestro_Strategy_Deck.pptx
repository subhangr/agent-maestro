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category thesis. Maestro is not another coding agent; it is the neutral work system around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founder-market-fit slide. Keep the narrative in first person when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from the current Maestro product. Make clear that capability depth varies, but the primitives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should focus on glance, approve, redirect, unblock, and message—not replicate the full desktop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official sources: https://code.claude.com/docs/en/agents ; https://code.claude.com/docs/en/agent-teams ; https://openai.com/index/introducing-the-codex-app/ ; https://hermes-agent.nousresearch.com/docs/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72200" cy="6858000"/>
          </a:xfrm>
          <a:prstGeom prst="rect">
            <a:avLst/>
          </a:prstGeom>
          <a:solidFill>
            <a:srgbClr val="1B1810"/>
          </a:solidFill>
          <a:ln w="12700">
            <a:solidFill>
              <a:srgbClr val="1B181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72200" y="0"/>
            <a:ext cx="6019495" cy="6858000"/>
          </a:xfrm>
          <a:prstGeom prst="rect">
            <a:avLst/>
          </a:prstGeom>
          <a:solidFill>
            <a:srgbClr val="100E0A"/>
          </a:solidFill>
          <a:ln w="12700">
            <a:solidFill>
              <a:srgbClr val="100E0A">
                <a:alpha val="0"/>
              </a:srgbClr>
            </a:solidFill>
            <a:prstDash val="solid"/>
          </a:ln>
        </p:spPr>
      </p:sp>
      <p:pic>
        <p:nvPicPr>
          <p:cNvPr id="4" name="Image 0" descr="/home/ubuntu/agent-maestro/maestro-ui/src-tauri/icons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502920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3584" y="6035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85800" y="1353312"/>
            <a:ext cx="1682496" cy="237744"/>
          </a:xfrm>
          <a:prstGeom prst="roundRect">
            <a:avLst>
              <a:gd name="adj" fmla="val 46154"/>
            </a:avLst>
          </a:prstGeom>
          <a:solidFill>
            <a:srgbClr val="F0E3D8"/>
          </a:solidFill>
          <a:ln w="8890">
            <a:solidFill>
              <a:srgbClr val="DDC5A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1394460"/>
            <a:ext cx="15361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STRATEGY · JULY 2026</a:t>
            </a:r>
            <a:endParaRPr lang="en-US" sz="740" dirty="0"/>
          </a:p>
        </p:txBody>
      </p:sp>
      <p:sp>
        <p:nvSpPr>
          <p:cNvPr id="8" name="Text 5"/>
          <p:cNvSpPr/>
          <p:nvPr/>
        </p:nvSpPr>
        <p:spPr>
          <a:xfrm>
            <a:off x="685800" y="1792224"/>
            <a:ext cx="4983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The open control plane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for agentic product work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13232" y="3584448"/>
            <a:ext cx="4800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Turn ideas into owned, observable, verified outcomes across Claude, Codex, Hermes—and whatever comes next.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4944" y="4992624"/>
            <a:ext cx="4526280" cy="0"/>
          </a:xfrm>
          <a:prstGeom prst="line">
            <a:avLst/>
          </a:prstGeom>
          <a:noFill/>
          <a:ln w="12700">
            <a:solidFill>
              <a:srgbClr val="5149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5221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SYSTEMS TO BUILD SYSTEMS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583680" y="859536"/>
            <a:ext cx="4983480" cy="4992624"/>
          </a:xfrm>
          <a:prstGeom prst="roundRect">
            <a:avLst>
              <a:gd name="adj" fmla="val 1468"/>
            </a:avLst>
          </a:prstGeom>
          <a:solidFill>
            <a:srgbClr val="0D0C09"/>
          </a:solidFill>
          <a:ln w="13970">
            <a:solidFill>
              <a:srgbClr val="3F382C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0256" y="896112"/>
            <a:ext cx="4910328" cy="246888"/>
          </a:xfrm>
          <a:prstGeom prst="rect">
            <a:avLst/>
          </a:prstGeom>
          <a:solidFill>
            <a:srgbClr val="29241C"/>
          </a:solidFill>
          <a:ln w="12700">
            <a:solidFill>
              <a:srgbClr val="29241C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84848" y="973836"/>
            <a:ext cx="64008" cy="64008"/>
          </a:xfrm>
          <a:prstGeom prst="ellipse">
            <a:avLst/>
          </a:prstGeom>
          <a:solidFill>
            <a:srgbClr val="BB4D3D"/>
          </a:solidFill>
          <a:ln w="12700">
            <a:solidFill>
              <a:srgbClr val="BB4D3D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58584" y="973836"/>
            <a:ext cx="64008" cy="64008"/>
          </a:xfrm>
          <a:prstGeom prst="ellipse">
            <a:avLst/>
          </a:prstGeom>
          <a:solidFill>
            <a:srgbClr val="BD8A2A"/>
          </a:solidFill>
          <a:ln w="12700">
            <a:solidFill>
              <a:srgbClr val="BD8A2A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32320" y="973836"/>
            <a:ext cx="64008" cy="64008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>
                <a:alpha val="0"/>
              </a:srgbClr>
            </a:solidFill>
            <a:prstDash val="solid"/>
          </a:ln>
        </p:spPr>
      </p:sp>
      <p:pic>
        <p:nvPicPr>
          <p:cNvPr id="17" name="Image 1" descr="/home/ubuntu/agent-maestro/.maestro/redesign/screenshots/full-layout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161288"/>
            <a:ext cx="4828032" cy="46085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56832" y="1161288"/>
            <a:ext cx="4828032" cy="4608576"/>
          </a:xfrm>
          <a:prstGeom prst="rect">
            <a:avLst/>
          </a:prstGeom>
          <a:solidFill>
            <a:srgbClr val="100E0A">
              <a:alpha val="32000"/>
            </a:srgbClr>
          </a:solidFill>
          <a:ln w="12700">
            <a:solidFill>
              <a:srgbClr val="100E0A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34072" y="24688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CC8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 ··· +</a:t>
            </a:r>
            <a:endParaRPr lang="en-US" sz="3400" dirty="0"/>
          </a:p>
        </p:txBody>
      </p:sp>
      <p:sp>
        <p:nvSpPr>
          <p:cNvPr id="20" name="Text 16"/>
          <p:cNvSpPr/>
          <p:nvPr/>
        </p:nvSpPr>
        <p:spPr>
          <a:xfrm>
            <a:off x="7086600" y="327355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CAPTURE  →  ASSIGN  →  VERIFY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9656064" y="65013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strategy deck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 · WHY THIS EXISTS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The models got agents. Work did not get a system.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strongest wedge is lived pain—not an invented market problem.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281635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847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07592" y="181965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You felt the pain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2231136"/>
            <a:ext cx="2423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Multiple agents improved output—but multiplied context switching, duplicated work, and review debt.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3758184" y="1691640"/>
            <a:ext cx="281635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41064" y="1847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79976" y="181965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You built a working answer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41064" y="2231136"/>
            <a:ext cx="2423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Maestro changed how ideas become tasks, how agents are assigned, and how progress stays visible.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85800" y="3319272"/>
            <a:ext cx="281635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4747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07592" y="344728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product is the proof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3858768"/>
            <a:ext cx="2423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Maestro is being built through Maestro: task trees, specialist roles, artifacts, peer review, and iteration.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3758184" y="3319272"/>
            <a:ext cx="2816352" cy="1353312"/>
          </a:xfrm>
          <a:prstGeom prst="roundRect">
            <a:avLst>
              <a:gd name="adj" fmla="val 5405"/>
            </a:avLst>
          </a:prstGeom>
          <a:solidFill>
            <a:srgbClr val="F0E3D8"/>
          </a:solidFill>
          <a:ln w="12700">
            <a:solidFill>
              <a:srgbClr val="DABFA7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41064" y="34747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79976" y="3447288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story is authentic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41064" y="3858768"/>
            <a:ext cx="2423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“My process stopped scaling. I built an operating system around it. Now I am opening it to other power users.”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059168" y="1700784"/>
            <a:ext cx="4416552" cy="2980944"/>
          </a:xfrm>
          <a:prstGeom prst="roundRect">
            <a:avLst>
              <a:gd name="adj" fmla="val 2454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06640" y="1993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FOUNDER TRANSFORMATION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88352" y="2377440"/>
            <a:ext cx="3520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Agent chaos was costing me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time, attention, and trust.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06640" y="3346704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 built a shared workflow for defining, assigning, observing, and verifying work—and now I can move multiple products forward without losing ownership or context.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85800" y="5010912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52669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3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STRATEGIC THESIS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2633472" y="5193792"/>
            <a:ext cx="8156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 not sell “more agents.” Sell control, continuity, and verified progress.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 ·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The visible problem is session chaos. The valuable problem is deeper.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Sell the surface pain. Solve the operating-system gap underneath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B4D3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SURFACE PROBLEM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3767328" cy="2578608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2194560"/>
            <a:ext cx="3154680" cy="384048"/>
          </a:xfrm>
          <a:prstGeom prst="roundRect">
            <a:avLst>
              <a:gd name="adj" fmla="val 11905"/>
            </a:avLst>
          </a:prstGeom>
          <a:solidFill>
            <a:srgbClr val="F5E4E1"/>
          </a:solidFill>
          <a:ln w="10160">
            <a:solidFill>
              <a:srgbClr val="BB4D3D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" y="2340864"/>
            <a:ext cx="64008" cy="64008"/>
          </a:xfrm>
          <a:prstGeom prst="ellipse">
            <a:avLst/>
          </a:prstGeom>
          <a:solidFill>
            <a:srgbClr val="BB4D3D"/>
          </a:solidFill>
          <a:ln w="12700">
            <a:solidFill>
              <a:srgbClr val="BB4D3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2768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Claude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1956816" y="227685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working · auth refactor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124712" y="2706624"/>
            <a:ext cx="3154680" cy="384048"/>
          </a:xfrm>
          <a:prstGeom prst="roundRect">
            <a:avLst>
              <a:gd name="adj" fmla="val 11905"/>
            </a:avLst>
          </a:prstGeom>
          <a:solidFill>
            <a:srgbClr val="E3EBF0"/>
          </a:solidFill>
          <a:ln w="10160">
            <a:solidFill>
              <a:srgbClr val="3F6C90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9304" y="2852928"/>
            <a:ext cx="64008" cy="64008"/>
          </a:xfrm>
          <a:prstGeom prst="ellipse">
            <a:avLst/>
          </a:prstGeom>
          <a:solidFill>
            <a:srgbClr val="3F6C90"/>
          </a:solidFill>
          <a:ln w="12700">
            <a:solidFill>
              <a:srgbClr val="3F6C9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4752" y="278892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Codex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2121408" y="27889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waiting · tests?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960120" y="3218688"/>
            <a:ext cx="3154680" cy="384048"/>
          </a:xfrm>
          <a:prstGeom prst="roundRect">
            <a:avLst>
              <a:gd name="adj" fmla="val 11905"/>
            </a:avLst>
          </a:prstGeom>
          <a:solidFill>
            <a:srgbClr val="F4EBD8"/>
          </a:solidFill>
          <a:ln w="10160">
            <a:solidFill>
              <a:srgbClr val="8B651F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4712" y="3364992"/>
            <a:ext cx="64008" cy="64008"/>
          </a:xfrm>
          <a:prstGeom prst="ellipse">
            <a:avLst/>
          </a:prstGeom>
          <a:solidFill>
            <a:srgbClr val="8B651F"/>
          </a:solidFill>
          <a:ln w="12700">
            <a:solidFill>
              <a:srgbClr val="8B651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3009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Hermes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1956816" y="33009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done · where is output?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1124712" y="3730752"/>
            <a:ext cx="3154680" cy="384048"/>
          </a:xfrm>
          <a:prstGeom prst="roundRect">
            <a:avLst>
              <a:gd name="adj" fmla="val 11905"/>
            </a:avLst>
          </a:prstGeom>
          <a:solidFill>
            <a:srgbClr val="E6F0E9"/>
          </a:solidFill>
          <a:ln w="10160">
            <a:solidFill>
              <a:srgbClr val="3E8E5A">
                <a:alpha val="4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9304" y="3877056"/>
            <a:ext cx="64008" cy="64008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44752" y="38130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Claude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2121408" y="38130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working · same files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960120" y="41696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564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“I have too many agents and cannot keep track.”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681728" y="2743200"/>
            <a:ext cx="658368" cy="841248"/>
          </a:xfrm>
          <a:prstGeom prst="chevron">
            <a:avLst/>
          </a:prstGeom>
          <a:solidFill>
            <a:srgbClr val="F0E3D8"/>
          </a:solidFill>
          <a:ln w="12700">
            <a:solidFill>
              <a:srgbClr val="B26A2B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16642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ROOT PROBLEM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96128" y="1920240"/>
            <a:ext cx="5879592" cy="2578608"/>
          </a:xfrm>
          <a:prstGeom prst="roundRect">
            <a:avLst>
              <a:gd name="adj" fmla="val 2837"/>
            </a:avLst>
          </a:prstGeom>
          <a:solidFill>
            <a:srgbClr val="1B1810"/>
          </a:solidFill>
          <a:ln w="12700">
            <a:solidFill>
              <a:srgbClr val="443D31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61888" y="2331720"/>
            <a:ext cx="5074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No reliable system turns intent into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owned, verifiable, reusable work.</a:t>
            </a:r>
            <a:endParaRPr lang="en-US" sz="2300" dirty="0"/>
          </a:p>
        </p:txBody>
      </p:sp>
      <p:sp>
        <p:nvSpPr>
          <p:cNvPr id="31" name="Shape 29"/>
          <p:cNvSpPr/>
          <p:nvPr/>
        </p:nvSpPr>
        <p:spPr>
          <a:xfrm>
            <a:off x="6016752" y="343357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3364992"/>
            <a:ext cx="46360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Ownership and dependencies stay implicit.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016752" y="3771900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3703320"/>
            <a:ext cx="46360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“Agent finished” is confused with “work is correct.”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016752" y="4110228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4041648"/>
            <a:ext cx="46360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Good prompts, feedback, and decisions disappear with the session.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685800" y="4882896"/>
            <a:ext cx="3364992" cy="786384"/>
          </a:xfrm>
          <a:prstGeom prst="roundRect">
            <a:avLst>
              <a:gd name="adj" fmla="val 9302"/>
            </a:avLst>
          </a:prstGeom>
          <a:solidFill>
            <a:srgbClr val="FBFAF6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07492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TIME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627632" y="5020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Less context switching and rework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4297680" y="4882896"/>
            <a:ext cx="3364992" cy="786384"/>
          </a:xfrm>
          <a:prstGeom prst="roundRect">
            <a:avLst>
              <a:gd name="adj" fmla="val 9302"/>
            </a:avLst>
          </a:prstGeom>
          <a:solidFill>
            <a:srgbClr val="FBFAF6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507492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MONEY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39512" y="5020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Fewer duplicated runs and wasted tokens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7909560" y="4882896"/>
            <a:ext cx="3364992" cy="786384"/>
          </a:xfrm>
          <a:prstGeom prst="roundRect">
            <a:avLst>
              <a:gd name="adj" fmla="val 9302"/>
            </a:avLst>
          </a:prstGeom>
          <a:solidFill>
            <a:srgbClr val="F0E3D8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92440" y="507492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CONTROL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851392" y="5020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Clear ownership, evidence, and continuity</a:t>
            </a:r>
            <a:endParaRPr lang="en-US" sz="10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 · AUDIENCE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Start with the people who already feel the coordination pain.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first 100–1,000 users are not “everyone who uses AI.”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5257800" cy="3593592"/>
          </a:xfrm>
          <a:prstGeom prst="roundRect">
            <a:avLst>
              <a:gd name="adj" fmla="val 2036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5256" y="1901952"/>
            <a:ext cx="1476756" cy="237744"/>
          </a:xfrm>
          <a:prstGeom prst="roundRect">
            <a:avLst>
              <a:gd name="adj" fmla="val 46154"/>
            </a:avLst>
          </a:prstGeom>
          <a:solidFill>
            <a:srgbClr val="E6F0E9"/>
          </a:solidFill>
          <a:ln w="8890">
            <a:solidFill>
              <a:srgbClr val="D4E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43100"/>
            <a:ext cx="13304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3E8E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PRIMARY BEACHHEAD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923544" y="2331720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Frontier-tool power users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23544" y="2862072"/>
            <a:ext cx="4782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Daily users of Claude Code, Codex, and Hermes who already run several sessions, projects, and worktrees.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41832" y="3835908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3767328"/>
            <a:ext cx="4590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Terminal + Git native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941832" y="4174236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424" y="4105656"/>
            <a:ext cx="4590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Model-switching by instinct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941832" y="4512564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" y="4443984"/>
            <a:ext cx="4590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Active on X, GitHub, Discord, Reddit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41832" y="485089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" y="4782312"/>
            <a:ext cx="4590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Pain is immediate—not educational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172200" y="1700784"/>
            <a:ext cx="2487168" cy="359359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91656" y="1901952"/>
            <a:ext cx="722376" cy="237744"/>
          </a:xfrm>
          <a:prstGeom prst="roundRect">
            <a:avLst>
              <a:gd name="adj" fmla="val 46154"/>
            </a:avLst>
          </a:prstGeom>
          <a:solidFill>
            <a:srgbClr val="F4EBD8"/>
          </a:solidFill>
          <a:ln w="8890">
            <a:solidFill>
              <a:srgbClr val="E8DA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1943100"/>
            <a:ext cx="576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8B65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SECOND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6409944" y="23317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Solo product builders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409944" y="3054096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Indie hackers and tiny AI-native teams seeking leverage without coordination overhead.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428232" y="4165092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92824" y="4096512"/>
            <a:ext cx="1819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Many hats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6428232" y="4485132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4416552"/>
            <a:ext cx="1819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Outcome driven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428232" y="4805172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92824" y="4736592"/>
            <a:ext cx="1819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Need repeatability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8887968" y="1700784"/>
            <a:ext cx="2587752" cy="3593592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07424" y="1901952"/>
            <a:ext cx="722376" cy="237744"/>
          </a:xfrm>
          <a:prstGeom prst="roundRect">
            <a:avLst>
              <a:gd name="adj" fmla="val 46154"/>
            </a:avLst>
          </a:prstGeom>
          <a:solidFill>
            <a:srgbClr val="E3EBF0"/>
          </a:solidFill>
          <a:ln w="8890">
            <a:solidFill>
              <a:srgbClr val="CB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0576" y="1943100"/>
            <a:ext cx="5760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3F6C9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EXPAND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125712" y="2331720"/>
            <a:ext cx="2112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Free/local entrants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9125712" y="3054096"/>
            <a:ext cx="211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Creators entering through Ollama and local models via mobile and short-form content.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9144000" y="4165092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08592" y="409651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Cost sensitive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9144000" y="4485132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08592" y="441655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Needs guided setup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9144000" y="4805172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08592" y="473659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Broader audience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685800" y="5559552"/>
            <a:ext cx="10789920" cy="512064"/>
          </a:xfrm>
          <a:prstGeom prst="roundRect">
            <a:avLst>
              <a:gd name="adj" fmla="val 8929"/>
            </a:avLst>
          </a:prstGeom>
          <a:solidFill>
            <a:srgbClr val="F0E3D8"/>
          </a:solidFill>
          <a:ln w="10160">
            <a:solidFill>
              <a:srgbClr val="DDC5A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5742432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0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NOT NOW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1801368" y="5696712"/>
            <a:ext cx="9098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Casual chatbot users · enterprise procurement-led buyers · teams seeking only a Jira replacement</a:t>
            </a:r>
            <a:endParaRPr lang="en-US" sz="10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 · POSITIONING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Own the workflow layer—not the model layer.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Freedom of tools. Discipline of process.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6912864" cy="4160520"/>
          </a:xfrm>
          <a:prstGeom prst="roundRect">
            <a:avLst>
              <a:gd name="adj" fmla="val 1758"/>
            </a:avLst>
          </a:prstGeom>
          <a:solidFill>
            <a:srgbClr val="1B1810"/>
          </a:solidFill>
          <a:ln w="12700">
            <a:solidFill>
              <a:srgbClr val="413A2E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33272" y="1984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CATEGORY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2359152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Agentic Product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Management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33272" y="3621024"/>
            <a:ext cx="5074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system that coordinates intent, humans, agents, tools, code, evidence, and organizational memory in one delivery loop.</a:t>
            </a:r>
            <a:endParaRPr lang="en-US" sz="1310" dirty="0"/>
          </a:p>
        </p:txBody>
      </p:sp>
      <p:sp>
        <p:nvSpPr>
          <p:cNvPr id="12" name="Shape 10"/>
          <p:cNvSpPr/>
          <p:nvPr/>
        </p:nvSpPr>
        <p:spPr>
          <a:xfrm>
            <a:off x="1042416" y="493776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272219"/>
          </a:solidFill>
          <a:ln w="12700">
            <a:solidFill>
              <a:srgbClr val="4A4235"/>
            </a:solidFill>
            <a:prstDash val="solid"/>
          </a:ln>
        </p:spPr>
      </p:sp>
      <p:pic>
        <p:nvPicPr>
          <p:cNvPr id="13" name="Image 0" descr="/home/ubuntu/agent-maestro/maestro-ui/public/agent-icons/claude-code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5038344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17904" y="509320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Claude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432304" y="493776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272219"/>
          </a:solidFill>
          <a:ln w="12700">
            <a:solidFill>
              <a:srgbClr val="4A4235"/>
            </a:solidFill>
            <a:prstDash val="solid"/>
          </a:ln>
        </p:spPr>
      </p:sp>
      <p:pic>
        <p:nvPicPr>
          <p:cNvPr id="16" name="Image 1" descr="/home/ubuntu/agent-maestro/maestro-ui/public/agent-icons/openai-codex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5038344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07792" y="509320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Codex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822192" y="4937760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272219"/>
          </a:solidFill>
          <a:ln w="12700">
            <a:solidFill>
              <a:srgbClr val="4A4235"/>
            </a:solidFill>
            <a:prstDash val="solid"/>
          </a:ln>
        </p:spPr>
      </p:sp>
      <p:pic>
        <p:nvPicPr>
          <p:cNvPr id="19" name="Image 2" descr="/home/ubuntu/agent-maestro/docs/strategy/.generated-herm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503834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97680" y="50932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Hermes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340096" y="5065776"/>
            <a:ext cx="1783080" cy="274320"/>
          </a:xfrm>
          <a:prstGeom prst="roundRect">
            <a:avLst>
              <a:gd name="adj" fmla="val 40000"/>
            </a:avLst>
          </a:prstGeom>
          <a:solidFill>
            <a:srgbClr val="332D23"/>
          </a:solidFill>
          <a:ln w="8890">
            <a:solidFill>
              <a:srgbClr val="51483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413248" y="5106924"/>
            <a:ext cx="1636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ANY NEXT RUNTIME</a:t>
            </a:r>
            <a:endParaRPr lang="en-US" sz="740" dirty="0"/>
          </a:p>
        </p:txBody>
      </p:sp>
      <p:sp>
        <p:nvSpPr>
          <p:cNvPr id="23" name="Shape 18"/>
          <p:cNvSpPr/>
          <p:nvPr/>
        </p:nvSpPr>
        <p:spPr>
          <a:xfrm>
            <a:off x="7882128" y="1664208"/>
            <a:ext cx="3593592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156448" y="19568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ONE-LINE POSITION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156448" y="2350008"/>
            <a:ext cx="29809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Maestro is the open control plane for agentic product work.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7882128" y="3858768"/>
            <a:ext cx="3593592" cy="1965960"/>
          </a:xfrm>
          <a:prstGeom prst="roundRect">
            <a:avLst>
              <a:gd name="adj" fmla="val 3721"/>
            </a:avLst>
          </a:prstGeom>
          <a:solidFill>
            <a:srgbClr val="FBFAF6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156448" y="41330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B4D3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NOT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8156448" y="4549140"/>
            <a:ext cx="73152" cy="73152"/>
          </a:xfrm>
          <a:prstGeom prst="ellipse">
            <a:avLst/>
          </a:prstGeom>
          <a:solidFill>
            <a:srgbClr val="BB4D3D"/>
          </a:solidFill>
          <a:ln w="12700">
            <a:solidFill>
              <a:srgbClr val="BB4D3D">
                <a:alpha val="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321040" y="448056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another model</a:t>
            </a:r>
            <a:endParaRPr lang="en-US" sz="960" dirty="0"/>
          </a:p>
        </p:txBody>
      </p:sp>
      <p:sp>
        <p:nvSpPr>
          <p:cNvPr id="30" name="Shape 25"/>
          <p:cNvSpPr/>
          <p:nvPr/>
        </p:nvSpPr>
        <p:spPr>
          <a:xfrm>
            <a:off x="8156448" y="4860036"/>
            <a:ext cx="73152" cy="73152"/>
          </a:xfrm>
          <a:prstGeom prst="ellipse">
            <a:avLst/>
          </a:prstGeom>
          <a:solidFill>
            <a:srgbClr val="BB4D3D"/>
          </a:solidFill>
          <a:ln w="12700">
            <a:solidFill>
              <a:srgbClr val="BB4D3D">
                <a:alpha val="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321040" y="479145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multi-terminal wrapper</a:t>
            </a:r>
            <a:endParaRPr lang="en-US" sz="960" dirty="0"/>
          </a:p>
        </p:txBody>
      </p:sp>
      <p:sp>
        <p:nvSpPr>
          <p:cNvPr id="32" name="Shape 27"/>
          <p:cNvSpPr/>
          <p:nvPr/>
        </p:nvSpPr>
        <p:spPr>
          <a:xfrm>
            <a:off x="8156448" y="5170932"/>
            <a:ext cx="73152" cy="73152"/>
          </a:xfrm>
          <a:prstGeom prst="ellipse">
            <a:avLst/>
          </a:prstGeom>
          <a:solidFill>
            <a:srgbClr val="BB4D3D"/>
          </a:solidFill>
          <a:ln w="12700">
            <a:solidFill>
              <a:srgbClr val="BB4D3D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321040" y="5102352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generic autonomy framework</a:t>
            </a:r>
            <a:endParaRPr lang="en-US" sz="960" dirty="0"/>
          </a:p>
        </p:txBody>
      </p:sp>
      <p:sp>
        <p:nvSpPr>
          <p:cNvPr id="34" name="Shape 29"/>
          <p:cNvSpPr/>
          <p:nvPr/>
        </p:nvSpPr>
        <p:spPr>
          <a:xfrm>
            <a:off x="8156448" y="5481828"/>
            <a:ext cx="73152" cy="73152"/>
          </a:xfrm>
          <a:prstGeom prst="ellipse">
            <a:avLst/>
          </a:prstGeom>
          <a:solidFill>
            <a:srgbClr val="BB4D3D"/>
          </a:solidFill>
          <a:ln w="12700">
            <a:solidFill>
              <a:srgbClr val="BB4D3D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321040" y="541324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replacement for GitHub review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 · PRODUCT LOOP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The product is the closed loop—not the number of agents.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Software is built progressively. Maestro makes the progression explicit.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0" y="2624328"/>
            <a:ext cx="658368" cy="0"/>
          </a:xfrm>
          <a:prstGeom prst="line">
            <a:avLst/>
          </a:prstGeom>
          <a:noFill/>
          <a:ln w="17780">
            <a:solidFill>
              <a:srgbClr val="D8D3C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52544" y="2624328"/>
            <a:ext cx="658368" cy="0"/>
          </a:xfrm>
          <a:prstGeom prst="line">
            <a:avLst/>
          </a:prstGeom>
          <a:noFill/>
          <a:ln w="17780">
            <a:solidFill>
              <a:srgbClr val="D8D3C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19088" y="2624328"/>
            <a:ext cx="658368" cy="0"/>
          </a:xfrm>
          <a:prstGeom prst="line">
            <a:avLst/>
          </a:prstGeom>
          <a:noFill/>
          <a:ln w="17780">
            <a:solidFill>
              <a:srgbClr val="D8D3C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63256" y="3374136"/>
            <a:ext cx="0" cy="786384"/>
          </a:xfrm>
          <a:prstGeom prst="line">
            <a:avLst/>
          </a:prstGeom>
          <a:noFill/>
          <a:ln w="19050">
            <a:solidFill>
              <a:srgbClr val="B26A2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85632" y="4919472"/>
            <a:ext cx="-3474720" cy="0"/>
          </a:xfrm>
          <a:prstGeom prst="line">
            <a:avLst/>
          </a:prstGeom>
          <a:noFill/>
          <a:ln w="17780">
            <a:solidFill>
              <a:srgbClr val="D8D3C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19088" y="4919472"/>
            <a:ext cx="-3474720" cy="0"/>
          </a:xfrm>
          <a:prstGeom prst="line">
            <a:avLst/>
          </a:prstGeom>
          <a:noFill/>
          <a:ln w="17780">
            <a:solidFill>
              <a:srgbClr val="D8D3C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52544" y="4919472"/>
            <a:ext cx="-3474720" cy="0"/>
          </a:xfrm>
          <a:prstGeom prst="line">
            <a:avLst/>
          </a:prstGeom>
          <a:noFill/>
          <a:ln w="17780">
            <a:solidFill>
              <a:srgbClr val="D8D3C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563624" y="4160520"/>
            <a:ext cx="0" cy="-786384"/>
          </a:xfrm>
          <a:prstGeom prst="line">
            <a:avLst/>
          </a:prstGeom>
          <a:noFill/>
          <a:ln w="19050">
            <a:solidFill>
              <a:srgbClr val="B26A2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3232" y="1865376"/>
            <a:ext cx="1755648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2020824"/>
            <a:ext cx="310896" cy="310896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066544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80160" y="207568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CAPTURE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868680" y="257860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Idea becomes durable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2779776" y="1865376"/>
            <a:ext cx="1755648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2020824"/>
            <a:ext cx="310896" cy="310896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2066544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46704" y="207568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DEFINE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2935224" y="257860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Outcome + scope + proof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4846320" y="1865376"/>
            <a:ext cx="1755648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92624" y="2020824"/>
            <a:ext cx="310896" cy="310896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2066544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13248" y="207568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ASSIGN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5001768" y="257860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Owner + runtime + isolation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912864" y="1865376"/>
            <a:ext cx="1755648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59168" y="2020824"/>
            <a:ext cx="310896" cy="310896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9168" y="2066544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79792" y="207568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EXECUTE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7068312" y="257860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Local, remote, or parallel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912864" y="4160520"/>
            <a:ext cx="1755648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59168" y="4315968"/>
            <a:ext cx="310896" cy="310896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9168" y="436168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79792" y="437083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OBSERVE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7068312" y="487375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Progress, blockers, artifacts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4846320" y="4160520"/>
            <a:ext cx="1755648" cy="1517904"/>
          </a:xfrm>
          <a:prstGeom prst="roundRect">
            <a:avLst>
              <a:gd name="adj" fmla="val 4819"/>
            </a:avLst>
          </a:prstGeom>
          <a:solidFill>
            <a:srgbClr val="F0E3D8"/>
          </a:solidFill>
          <a:ln w="12700">
            <a:solidFill>
              <a:srgbClr val="DABFA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92624" y="4315968"/>
            <a:ext cx="310896" cy="310896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2624" y="436168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13248" y="437083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VERIFY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5001768" y="487375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Evidence against acceptance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2779776" y="4160520"/>
            <a:ext cx="1755648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26080" y="4315968"/>
            <a:ext cx="310896" cy="310896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0" y="436168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7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346704" y="437083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3E8E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LEARN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2935224" y="487375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Memory, template, skill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713232" y="4160520"/>
            <a:ext cx="1755648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9536" y="4315968"/>
            <a:ext cx="310896" cy="310896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9536" y="4361688"/>
            <a:ext cx="310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280160" y="437083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SHARE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868680" y="487375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Collab with provenance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9162288" y="1865376"/>
            <a:ext cx="2322576" cy="3813048"/>
          </a:xfrm>
          <a:prstGeom prst="roundRect">
            <a:avLst>
              <a:gd name="adj" fmla="val 3150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9454896" y="21945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THE REAL AHA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454896" y="2670048"/>
            <a:ext cx="1719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i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“I left, came back, understood what happened—and trusted the result.”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9537192" y="4361688"/>
            <a:ext cx="1545336" cy="0"/>
          </a:xfrm>
          <a:prstGeom prst="line">
            <a:avLst/>
          </a:prstGeom>
          <a:noFill/>
          <a:ln w="12700">
            <a:solidFill>
              <a:srgbClr val="4C443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54896" y="4617720"/>
            <a:ext cx="17190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BEB6A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Spawning agents is an action. Closing the loop is the product.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 · PRODUCT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Two spaces. One shared work graph.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Execution and collaboration stay distinct—but exchange the same durable objects.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4846320" cy="3593592"/>
          </a:xfrm>
          <a:prstGeom prst="roundRect">
            <a:avLst>
              <a:gd name="adj" fmla="val 2036"/>
            </a:avLst>
          </a:prstGeom>
          <a:solidFill>
            <a:srgbClr val="1B1810"/>
          </a:solidFill>
          <a:ln w="12700">
            <a:solidFill>
              <a:srgbClr val="423B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1993392"/>
            <a:ext cx="928116" cy="237744"/>
          </a:xfrm>
          <a:prstGeom prst="roundRect">
            <a:avLst>
              <a:gd name="adj" fmla="val 46154"/>
            </a:avLst>
          </a:prstGeom>
          <a:solidFill>
            <a:srgbClr val="E6F0E9"/>
          </a:solidFill>
          <a:ln w="8890">
            <a:solidFill>
              <a:srgbClr val="D4E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034540"/>
            <a:ext cx="7818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3E8E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EXECUTION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950976" y="24231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Agentic Coding Space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987552" y="315925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09067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Projects, tasks, dependencies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87552" y="352501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345643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Claude · Codex · Hermes · terminals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7552" y="389077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382219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Sessions, logs, prompts, checkpoints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87552" y="425653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418795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Git + worktree isolation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7552" y="462229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455371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Teams, skills, memory, permissions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56832" y="1755648"/>
            <a:ext cx="4818888" cy="3593592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D8D3C6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31152" y="1993392"/>
            <a:ext cx="1202436" cy="237744"/>
          </a:xfrm>
          <a:prstGeom prst="roundRect">
            <a:avLst>
              <a:gd name="adj" fmla="val 46154"/>
            </a:avLst>
          </a:prstGeom>
          <a:solidFill>
            <a:srgbClr val="E6F0E9"/>
          </a:solidFill>
          <a:ln w="8890">
            <a:solidFill>
              <a:srgbClr val="D4E7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2034540"/>
            <a:ext cx="10561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3E8E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COLLABORATION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6922008" y="2423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Collab Space</a:t>
            </a:r>
            <a:endParaRPr lang="en-US" sz="2300" dirty="0"/>
          </a:p>
        </p:txBody>
      </p:sp>
      <p:sp>
        <p:nvSpPr>
          <p:cNvPr id="26" name="Shape 24"/>
          <p:cNvSpPr/>
          <p:nvPr/>
        </p:nvSpPr>
        <p:spPr>
          <a:xfrm>
            <a:off x="6958584" y="315925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23176" y="309067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Repo-scoped spaces + channels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58584" y="352501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23176" y="345643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Shared tasks, personas, spells, docs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58584" y="389077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23176" y="382219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Push / pull / adopt / install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58584" y="425653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23176" y="418795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Visible provenance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58584" y="462229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3176" y="455371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Humans now; agents increasingly in the loop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38928" y="2240280"/>
            <a:ext cx="1901952" cy="2596896"/>
          </a:xfrm>
          <a:prstGeom prst="roundRect">
            <a:avLst>
              <a:gd name="adj" fmla="val 3846"/>
            </a:avLst>
          </a:prstGeom>
          <a:solidFill>
            <a:srgbClr val="F0E3D8"/>
          </a:solidFill>
          <a:ln w="13970">
            <a:solidFill>
              <a:srgbClr val="DABF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67528" y="254203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SHARED CURRENCY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76672" y="2926080"/>
            <a:ext cx="140817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8890">
            <a:solidFill>
              <a:srgbClr val="D7C2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9824" y="2967228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TASK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5376672" y="3255264"/>
            <a:ext cx="140817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8890">
            <a:solidFill>
              <a:srgbClr val="D7C2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9824" y="32964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TEAM MEMBER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5376672" y="3584448"/>
            <a:ext cx="140817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8890">
            <a:solidFill>
              <a:srgbClr val="D7C2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9824" y="362559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SKILL / SPELL</a:t>
            </a:r>
            <a:endParaRPr lang="en-US" sz="710" dirty="0"/>
          </a:p>
        </p:txBody>
      </p:sp>
      <p:sp>
        <p:nvSpPr>
          <p:cNvPr id="44" name="Shape 42"/>
          <p:cNvSpPr/>
          <p:nvPr/>
        </p:nvSpPr>
        <p:spPr>
          <a:xfrm>
            <a:off x="5376672" y="3913632"/>
            <a:ext cx="140817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8890">
            <a:solidFill>
              <a:srgbClr val="D7C2A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9824" y="3954780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DOC / ARTIFACT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5376672" y="4242816"/>
            <a:ext cx="1408176" cy="237744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 w="8890">
            <a:solidFill>
              <a:srgbClr val="D7C2A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9824" y="4283964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EVIDENCE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5001768" y="3529584"/>
            <a:ext cx="-603504" cy="0"/>
          </a:xfrm>
          <a:prstGeom prst="line">
            <a:avLst/>
          </a:prstGeom>
          <a:noFill/>
          <a:ln w="17780">
            <a:solidFill>
              <a:srgbClr val="B26A2B"/>
            </a:solidFill>
            <a:prstDash val="solid"/>
            <a:headEnd type="triangl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187184" y="3529584"/>
            <a:ext cx="603504" cy="0"/>
          </a:xfrm>
          <a:prstGeom prst="line">
            <a:avLst/>
          </a:prstGeom>
          <a:noFill/>
          <a:ln w="17780">
            <a:solidFill>
              <a:srgbClr val="B26A2B"/>
            </a:solidFill>
            <a:prstDash val="solid"/>
            <a:headEnd type="triangl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1078992" y="5650992"/>
            <a:ext cx="10030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i="1" dirty="0">
                <a:solidFill>
                  <a:srgbClr val="5B564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The durable asset is not the chat transcript. It is the reusable work object—and the proof attached to it.</a:t>
            </a:r>
            <a:endParaRPr lang="en-US" sz="1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07 · PRODUCT PROOF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The MVP already has a meaningful strategic shape.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These are not roadmap slogans; they are visible product primitives.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645920"/>
            <a:ext cx="6903720" cy="4462272"/>
          </a:xfrm>
          <a:prstGeom prst="roundRect">
            <a:avLst>
              <a:gd name="adj" fmla="val 1639"/>
            </a:avLst>
          </a:prstGeom>
          <a:solidFill>
            <a:srgbClr val="1B1810"/>
          </a:solidFill>
          <a:ln w="12700">
            <a:solidFill>
              <a:srgbClr val="40392E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pic>
        <p:nvPicPr>
          <p:cNvPr id="9" name="Image 0" descr="/home/ubuntu/agent-maestro/.maestro/redesign/screenshots/full-layou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773936"/>
            <a:ext cx="6647688" cy="4206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0392" y="5532120"/>
            <a:ext cx="2212848" cy="310896"/>
          </a:xfrm>
          <a:prstGeom prst="roundRect">
            <a:avLst>
              <a:gd name="adj" fmla="val 14706"/>
            </a:avLst>
          </a:prstGeom>
          <a:solidFill>
            <a:srgbClr val="100E0A">
              <a:alpha val="92000"/>
            </a:srgbClr>
          </a:solidFill>
          <a:ln w="8890">
            <a:solidFill>
              <a:srgbClr val="5A51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623560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spc="110" kern="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REAL PRODUCT SCREEN</a:t>
            </a:r>
            <a:endParaRPr lang="en-US" sz="730" dirty="0"/>
          </a:p>
        </p:txBody>
      </p:sp>
      <p:sp>
        <p:nvSpPr>
          <p:cNvPr id="12" name="Text 9"/>
          <p:cNvSpPr/>
          <p:nvPr/>
        </p:nvSpPr>
        <p:spPr>
          <a:xfrm>
            <a:off x="8001000" y="1783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8412480" y="17373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Ideas → tasks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8412480" y="2002536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Durable capture, hierarchy, references, acceptance.</a:t>
            </a:r>
            <a:endParaRPr lang="en-US" sz="890" dirty="0"/>
          </a:p>
        </p:txBody>
      </p:sp>
      <p:sp>
        <p:nvSpPr>
          <p:cNvPr id="15" name="Shape 12"/>
          <p:cNvSpPr/>
          <p:nvPr/>
        </p:nvSpPr>
        <p:spPr>
          <a:xfrm>
            <a:off x="8010144" y="2423160"/>
            <a:ext cx="3255264" cy="0"/>
          </a:xfrm>
          <a:prstGeom prst="line">
            <a:avLst/>
          </a:prstGeom>
          <a:noFill/>
          <a:ln w="8890">
            <a:solidFill>
              <a:srgbClr val="E7E3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01000" y="26426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8412480" y="25968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workspace</a:t>
            </a:r>
            <a:endParaRPr lang="en-US" sz="1130" dirty="0"/>
          </a:p>
        </p:txBody>
      </p:sp>
      <p:sp>
        <p:nvSpPr>
          <p:cNvPr id="18" name="Text 15"/>
          <p:cNvSpPr/>
          <p:nvPr/>
        </p:nvSpPr>
        <p:spPr>
          <a:xfrm>
            <a:off x="8412480" y="2862072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Multiple tools, projects, terminals, and sessions.</a:t>
            </a:r>
            <a:endParaRPr lang="en-US" sz="890" dirty="0"/>
          </a:p>
        </p:txBody>
      </p:sp>
      <p:sp>
        <p:nvSpPr>
          <p:cNvPr id="19" name="Shape 16"/>
          <p:cNvSpPr/>
          <p:nvPr/>
        </p:nvSpPr>
        <p:spPr>
          <a:xfrm>
            <a:off x="8010144" y="3282696"/>
            <a:ext cx="3255264" cy="0"/>
          </a:xfrm>
          <a:prstGeom prst="line">
            <a:avLst/>
          </a:prstGeom>
          <a:noFill/>
          <a:ln w="8890">
            <a:solidFill>
              <a:srgbClr val="E7E3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01000" y="35021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8412480" y="345643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Team members</a:t>
            </a:r>
            <a:endParaRPr lang="en-US" sz="1130" dirty="0"/>
          </a:p>
        </p:txBody>
      </p:sp>
      <p:sp>
        <p:nvSpPr>
          <p:cNvPr id="22" name="Text 19"/>
          <p:cNvSpPr/>
          <p:nvPr/>
        </p:nvSpPr>
        <p:spPr>
          <a:xfrm>
            <a:off x="8412480" y="3721608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Reusable identity, runtime, permissions, memory, skills.</a:t>
            </a:r>
            <a:endParaRPr lang="en-US" sz="890" dirty="0"/>
          </a:p>
        </p:txBody>
      </p:sp>
      <p:sp>
        <p:nvSpPr>
          <p:cNvPr id="23" name="Shape 20"/>
          <p:cNvSpPr/>
          <p:nvPr/>
        </p:nvSpPr>
        <p:spPr>
          <a:xfrm>
            <a:off x="8010144" y="4142232"/>
            <a:ext cx="3255264" cy="0"/>
          </a:xfrm>
          <a:prstGeom prst="line">
            <a:avLst/>
          </a:prstGeom>
          <a:noFill/>
          <a:ln w="8890">
            <a:solidFill>
              <a:srgbClr val="E7E3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01000" y="43616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8412480" y="43159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Deliberate orchestration</a:t>
            </a:r>
            <a:endParaRPr lang="en-US" sz="1130" dirty="0"/>
          </a:p>
        </p:txBody>
      </p:sp>
      <p:sp>
        <p:nvSpPr>
          <p:cNvPr id="26" name="Text 23"/>
          <p:cNvSpPr/>
          <p:nvPr/>
        </p:nvSpPr>
        <p:spPr>
          <a:xfrm>
            <a:off x="8412480" y="4581144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Worker, queue, tree, batch, DAG, and teams.</a:t>
            </a:r>
            <a:endParaRPr lang="en-US" sz="890" dirty="0"/>
          </a:p>
        </p:txBody>
      </p:sp>
      <p:sp>
        <p:nvSpPr>
          <p:cNvPr id="27" name="Shape 24"/>
          <p:cNvSpPr/>
          <p:nvPr/>
        </p:nvSpPr>
        <p:spPr>
          <a:xfrm>
            <a:off x="8010144" y="5001768"/>
            <a:ext cx="3255264" cy="0"/>
          </a:xfrm>
          <a:prstGeom prst="line">
            <a:avLst/>
          </a:prstGeom>
          <a:noFill/>
          <a:ln w="8890">
            <a:solidFill>
              <a:srgbClr val="E7E3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01000" y="52212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8412480" y="51755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Collab + Git</a:t>
            </a:r>
            <a:endParaRPr lang="en-US" sz="1130" dirty="0"/>
          </a:p>
        </p:txBody>
      </p:sp>
      <p:sp>
        <p:nvSpPr>
          <p:cNvPr id="30" name="Text 27"/>
          <p:cNvSpPr/>
          <p:nvPr/>
        </p:nvSpPr>
        <p:spPr>
          <a:xfrm>
            <a:off x="8412480" y="544068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Shared work objects around the code system of record.</a:t>
            </a:r>
            <a:endParaRPr lang="en-US" sz="890" dirty="0"/>
          </a:p>
        </p:txBody>
      </p:sp>
      <p:sp>
        <p:nvSpPr>
          <p:cNvPr id="31" name="Shape 28"/>
          <p:cNvSpPr/>
          <p:nvPr/>
        </p:nvSpPr>
        <p:spPr>
          <a:xfrm>
            <a:off x="10030968" y="5614416"/>
            <a:ext cx="928116" cy="237744"/>
          </a:xfrm>
          <a:prstGeom prst="roundRect">
            <a:avLst>
              <a:gd name="adj" fmla="val 46154"/>
            </a:avLst>
          </a:prstGeom>
          <a:solidFill>
            <a:srgbClr val="E6F0E9"/>
          </a:solidFill>
          <a:ln w="8890">
            <a:solidFill>
              <a:srgbClr val="D4E7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104120" y="5655564"/>
            <a:ext cx="7818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3E8E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BUILT NOW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08 · WORK PROTOCOL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 good task is a contract—not a prompt.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Make ownership, boundaries, dependencies, and proof visible before execution starts.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2048256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47088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OUTCOME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41248" y="2130552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must be true?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44368" y="1700784"/>
            <a:ext cx="2048256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1847088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OWNER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99816" y="2130552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Who may act now?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02936" y="1700784"/>
            <a:ext cx="2048256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1847088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SCOPE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58384" y="2130552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Included—and excluded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2779776"/>
            <a:ext cx="2048256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926080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INPUTS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41248" y="3209544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Context to read first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44368" y="2779776"/>
            <a:ext cx="2048256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9816" y="2926080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DEPENDENCIES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099816" y="3209544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blocks / unblocks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02936" y="2779776"/>
            <a:ext cx="2048256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8384" y="2926080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ISOLATION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358384" y="3209544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Tree, branch, worktree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3858768"/>
            <a:ext cx="2048256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005072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ACCEPTANCE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41248" y="4288536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Observable success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44368" y="3858768"/>
            <a:ext cx="2048256" cy="850392"/>
          </a:xfrm>
          <a:prstGeom prst="roundRect">
            <a:avLst>
              <a:gd name="adj" fmla="val 8602"/>
            </a:avLst>
          </a:prstGeom>
          <a:solidFill>
            <a:srgbClr val="F0E3D8"/>
          </a:solidFill>
          <a:ln w="12700">
            <a:solidFill>
              <a:srgbClr val="D8BD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99816" y="4005072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9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EVIDENCE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099816" y="4288536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Diff, test, screenshot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02936" y="3858768"/>
            <a:ext cx="2048256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58384" y="4005072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REVIEWER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358384" y="4288536"/>
            <a:ext cx="1709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Independent check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08392" y="1700784"/>
            <a:ext cx="3767328" cy="3008376"/>
          </a:xfrm>
          <a:prstGeom prst="roundRect">
            <a:avLst>
              <a:gd name="adj" fmla="val 2432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001000" y="19842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ANTI-DUPLICATION RULES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010144" y="2464308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4736" y="2395728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Claim before execution.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8010144" y="2784348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74736" y="2715768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accountable owner; many contributors.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8010144" y="3104388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4736" y="3035808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Declare the edit and decision surface.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8010144" y="3424428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74736" y="3355848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Represent dependencies explicitly.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8010144" y="3744468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74736" y="3675888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Label exploration separately from implementation.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8010144" y="4064508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74736" y="3995928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Attach artifacts to the task.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8010144" y="4384548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74736" y="4315968"/>
            <a:ext cx="2962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Completion without evidence goes to review—not done.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685800" y="5102352"/>
            <a:ext cx="10789920" cy="731520"/>
          </a:xfrm>
          <a:prstGeom prst="roundRect">
            <a:avLst>
              <a:gd name="adj" fmla="val 6250"/>
            </a:avLst>
          </a:prstGeom>
          <a:solidFill>
            <a:srgbClr val="E6F0E9"/>
          </a:solidFill>
          <a:ln w="10160">
            <a:solidFill>
              <a:srgbClr val="CFE0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" y="53766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spc="100" kern="0" dirty="0">
                <a:solidFill>
                  <a:srgbClr val="3E8E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STATE MODEL</a:t>
            </a:r>
            <a:endParaRPr lang="en-US" sz="810" dirty="0"/>
          </a:p>
        </p:txBody>
      </p:sp>
      <p:sp>
        <p:nvSpPr>
          <p:cNvPr id="53" name="Text 51"/>
          <p:cNvSpPr/>
          <p:nvPr/>
        </p:nvSpPr>
        <p:spPr>
          <a:xfrm>
            <a:off x="2139696" y="5330952"/>
            <a:ext cx="8732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PROPOSED  →  READY  →  CLAIMED  →  WORKING  →  IN REVIEW  →  VERIFIED  →  DONE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09 · CONTROL SYSTEM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Assignment routes the work. Verification earns “done.”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 not ask one agent to be planner, implementer, and judge by default.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19072"/>
            <a:ext cx="5193792" cy="4041648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78408" y="1993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ASSIGNMENT PROTOCOL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87552" y="2423160"/>
            <a:ext cx="347472" cy="347472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45059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44752" y="241858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Classify the task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444752" y="264261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explore · design · build · debug · review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987552" y="3017520"/>
            <a:ext cx="347472" cy="347472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04495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44752" y="301294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Match the specialist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444752" y="323697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identity · skills · permissions · memory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987552" y="3611880"/>
            <a:ext cx="347472" cy="347472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63931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44752" y="360730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Choose the runtime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1444752" y="383133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best-fit capability—not favorite vendor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987552" y="4206240"/>
            <a:ext cx="347472" cy="347472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23367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44752" y="420166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Choose isolation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444752" y="442569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shared tree · worktree · sandbox · read-only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987552" y="4800600"/>
            <a:ext cx="347472" cy="347472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82803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444752" y="47960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Set checkpoints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1444752" y="502005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plan approval for risky or ambiguous work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6108192" y="1719072"/>
            <a:ext cx="5367528" cy="4041648"/>
          </a:xfrm>
          <a:prstGeom prst="roundRect">
            <a:avLst>
              <a:gd name="adj" fmla="val 1810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19088" y="19933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VERIFICATION PROTOCOL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37376" y="2505456"/>
            <a:ext cx="2084832" cy="612648"/>
          </a:xfrm>
          <a:prstGeom prst="roundRect">
            <a:avLst>
              <a:gd name="adj" fmla="val 7463"/>
            </a:avLst>
          </a:prstGeom>
          <a:solidFill>
            <a:srgbClr val="272219"/>
          </a:solidFill>
          <a:ln w="10160">
            <a:solidFill>
              <a:srgbClr val="5046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61518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READ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6583680" y="2816352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Outcome + acceptance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8778240" y="2505456"/>
            <a:ext cx="2084832" cy="612648"/>
          </a:xfrm>
          <a:prstGeom prst="roundRect">
            <a:avLst>
              <a:gd name="adj" fmla="val 7463"/>
            </a:avLst>
          </a:prstGeom>
          <a:solidFill>
            <a:srgbClr val="272219"/>
          </a:solidFill>
          <a:ln w="10160">
            <a:solidFill>
              <a:srgbClr val="5046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24544" y="261518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INSPECT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8924544" y="2816352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Artifact, diff, or design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6437376" y="3337560"/>
            <a:ext cx="2084832" cy="612648"/>
          </a:xfrm>
          <a:prstGeom prst="roundRect">
            <a:avLst>
              <a:gd name="adj" fmla="val 7463"/>
            </a:avLst>
          </a:prstGeom>
          <a:solidFill>
            <a:srgbClr val="272219"/>
          </a:solidFill>
          <a:ln w="10160">
            <a:solidFill>
              <a:srgbClr val="5046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344728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RUN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6583680" y="364845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Named checks and tests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8778240" y="3337560"/>
            <a:ext cx="2084832" cy="612648"/>
          </a:xfrm>
          <a:prstGeom prst="roundRect">
            <a:avLst>
              <a:gd name="adj" fmla="val 7463"/>
            </a:avLst>
          </a:prstGeom>
          <a:solidFill>
            <a:srgbClr val="272219"/>
          </a:solidFill>
          <a:ln w="10160">
            <a:solidFill>
              <a:srgbClr val="5046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24544" y="344728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COMPARE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8924544" y="364845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References + contract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6437376" y="4169664"/>
            <a:ext cx="2084832" cy="612648"/>
          </a:xfrm>
          <a:prstGeom prst="roundRect">
            <a:avLst>
              <a:gd name="adj" fmla="val 7463"/>
            </a:avLst>
          </a:prstGeom>
          <a:solidFill>
            <a:srgbClr val="272219"/>
          </a:solidFill>
          <a:ln w="10160">
            <a:solidFill>
              <a:srgbClr val="5046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427939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RECORD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6583680" y="448056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Findings as executable deltas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8778240" y="4169664"/>
            <a:ext cx="2084832" cy="612648"/>
          </a:xfrm>
          <a:prstGeom prst="roundRect">
            <a:avLst>
              <a:gd name="adj" fmla="val 7463"/>
            </a:avLst>
          </a:prstGeom>
          <a:solidFill>
            <a:srgbClr val="272219"/>
          </a:solidFill>
          <a:ln w="10160">
            <a:solidFill>
              <a:srgbClr val="5046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24544" y="4279392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8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DECIDE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8924544" y="448056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Approve · return · split follow-up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685800" y="5961888"/>
            <a:ext cx="10789920" cy="356616"/>
          </a:xfrm>
          <a:prstGeom prst="roundRect">
            <a:avLst>
              <a:gd name="adj" fmla="val 10256"/>
            </a:avLst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" y="6067044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spc="110" kern="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DONE REQUIRES EVIDENCE.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3246120" y="60350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completion message is a claim. The evidence bundle is the proof.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 · ACTIVATION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Onboard users to one closed loop—not every feature.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First-run promise: bring one real task; leave with one verified result and a reusable setup.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682496"/>
            <a:ext cx="6547104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87552" y="1993392"/>
            <a:ext cx="347472" cy="347472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2082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44752" y="198882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Connect a repo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1444752" y="2212848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Detect working directory + Git remote.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987552" y="2624328"/>
            <a:ext cx="347472" cy="347472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65176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44752" y="261975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Choose a starter lane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1444752" y="2843784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Bug · feature · review · design exploration.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987552" y="3255264"/>
            <a:ext cx="347472" cy="347472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282696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44752" y="325069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Define with a template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1444752" y="347472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Outcome · scope · acceptance · evidence.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87552" y="3886200"/>
            <a:ext cx="347472" cy="347472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91363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44752" y="388162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Pick a specialist + runtime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1444752" y="4105656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Default safely; explain the tradeoff.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7552" y="4517136"/>
            <a:ext cx="347472" cy="347472"/>
          </a:xfrm>
          <a:prstGeom prst="ellipse">
            <a:avLst/>
          </a:prstGeom>
          <a:solidFill>
            <a:srgbClr val="23201B"/>
          </a:solidFill>
          <a:ln w="12700">
            <a:solidFill>
              <a:srgbClr val="23201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54456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44752" y="451256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Start in the right isolation</a:t>
            </a:r>
            <a:endParaRPr lang="en-US" sz="1110" dirty="0"/>
          </a:p>
        </p:txBody>
      </p:sp>
      <p:sp>
        <p:nvSpPr>
          <p:cNvPr id="28" name="Text 26"/>
          <p:cNvSpPr/>
          <p:nvPr/>
        </p:nvSpPr>
        <p:spPr>
          <a:xfrm>
            <a:off x="1444752" y="4736592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Worktree for edits; read-only for review.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987552" y="5148072"/>
            <a:ext cx="347472" cy="34747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517550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444752" y="5143500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Verify and save the win</a:t>
            </a:r>
            <a:endParaRPr lang="en-US" sz="1110" dirty="0"/>
          </a:p>
        </p:txBody>
      </p:sp>
      <p:sp>
        <p:nvSpPr>
          <p:cNvPr id="32" name="Text 30"/>
          <p:cNvSpPr/>
          <p:nvPr/>
        </p:nvSpPr>
        <p:spPr>
          <a:xfrm>
            <a:off x="1444752" y="5367528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Approve evidence; preserve memory or template.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626096" y="17007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GET WORK DONE ON THE MOVE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516368" y="2029968"/>
            <a:ext cx="1810512" cy="4041648"/>
          </a:xfrm>
          <a:prstGeom prst="roundRect">
            <a:avLst>
              <a:gd name="adj" fmla="val 4040"/>
            </a:avLst>
          </a:prstGeom>
          <a:solidFill>
            <a:srgbClr val="1B1810"/>
          </a:solidFill>
          <a:ln w="12700">
            <a:solidFill>
              <a:srgbClr val="433B2F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pic>
        <p:nvPicPr>
          <p:cNvPr id="35" name="Image 0" descr="/home/ubuntu/agent-maestro/Maestro Design System - mobile/scraps/mob-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2" y="2139696"/>
            <a:ext cx="1609344" cy="3822192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9555480" y="2029968"/>
            <a:ext cx="1810512" cy="4041648"/>
          </a:xfrm>
          <a:prstGeom prst="roundRect">
            <a:avLst>
              <a:gd name="adj" fmla="val 4040"/>
            </a:avLst>
          </a:prstGeom>
          <a:solidFill>
            <a:srgbClr val="1B1810"/>
          </a:solidFill>
          <a:ln w="12700">
            <a:solidFill>
              <a:srgbClr val="433B2F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pic>
        <p:nvPicPr>
          <p:cNvPr id="37" name="Image 1" descr="/home/ubuntu/agent-maestro/Maestro Design System - mobile/scraps/mob-term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4" y="2139696"/>
            <a:ext cx="1609344" cy="3822192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8796528" y="5916168"/>
            <a:ext cx="1476756" cy="237744"/>
          </a:xfrm>
          <a:prstGeom prst="roundRect">
            <a:avLst>
              <a:gd name="adj" fmla="val 46154"/>
            </a:avLst>
          </a:prstGeom>
          <a:solidFill>
            <a:srgbClr val="F4EBD8"/>
          </a:solidFill>
          <a:ln w="8890">
            <a:solidFill>
              <a:srgbClr val="E8DAB9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869680" y="5957316"/>
            <a:ext cx="13304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8B65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MOBILE FOUNDATION</a:t>
            </a:r>
            <a:endParaRPr lang="en-US" sz="7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11 · REUSABLE ORGANIZATION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Team members are Skills++.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skill is reusable instruction. A team member is a reusable operating identity.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682496"/>
            <a:ext cx="5257800" cy="4462272"/>
          </a:xfrm>
          <a:prstGeom prst="roundRect">
            <a:avLst>
              <a:gd name="adj" fmla="val 1639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87552" y="1938528"/>
            <a:ext cx="1202436" cy="237744"/>
          </a:xfrm>
          <a:prstGeom prst="roundRect">
            <a:avLst>
              <a:gd name="adj" fmla="val 46154"/>
            </a:avLst>
          </a:prstGeom>
          <a:solidFill>
            <a:srgbClr val="F0E3D8"/>
          </a:solidFill>
          <a:ln w="8890">
            <a:solidFill>
              <a:srgbClr val="DDC5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79676"/>
            <a:ext cx="10561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REUSABLE ROLE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987552" y="23408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Frontend Lead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C0B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“Own interface quality, preserve the design system, and require visual evidence before completion.”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87552" y="405079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spc="7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IDENTITY</a:t>
            </a:r>
            <a:endParaRPr lang="en-US" sz="710" dirty="0"/>
          </a:p>
        </p:txBody>
      </p:sp>
      <p:sp>
        <p:nvSpPr>
          <p:cNvPr id="14" name="Text 12"/>
          <p:cNvSpPr/>
          <p:nvPr/>
        </p:nvSpPr>
        <p:spPr>
          <a:xfrm>
            <a:off x="1975104" y="40416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How it thinks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18688" y="405079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spc="7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RUNTIME</a:t>
            </a:r>
            <a:endParaRPr lang="en-US" sz="710" dirty="0"/>
          </a:p>
        </p:txBody>
      </p:sp>
      <p:sp>
        <p:nvSpPr>
          <p:cNvPr id="16" name="Text 14"/>
          <p:cNvSpPr/>
          <p:nvPr/>
        </p:nvSpPr>
        <p:spPr>
          <a:xfrm>
            <a:off x="4206240" y="40416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 + model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7552" y="4617720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spc="7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PERMISSIONS</a:t>
            </a:r>
            <a:endParaRPr lang="en-US" sz="710" dirty="0"/>
          </a:p>
        </p:txBody>
      </p:sp>
      <p:sp>
        <p:nvSpPr>
          <p:cNvPr id="18" name="Text 16"/>
          <p:cNvSpPr/>
          <p:nvPr/>
        </p:nvSpPr>
        <p:spPr>
          <a:xfrm>
            <a:off x="1975104" y="46085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it may 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18688" y="4617720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spc="7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MEMORY</a:t>
            </a:r>
            <a:endParaRPr lang="en-US" sz="710" dirty="0"/>
          </a:p>
        </p:txBody>
      </p:sp>
      <p:sp>
        <p:nvSpPr>
          <p:cNvPr id="20" name="Text 18"/>
          <p:cNvSpPr/>
          <p:nvPr/>
        </p:nvSpPr>
        <p:spPr>
          <a:xfrm>
            <a:off x="4206240" y="46085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survives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87552" y="518464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spc="7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SKILLS</a:t>
            </a:r>
            <a:endParaRPr lang="en-US" sz="710" dirty="0"/>
          </a:p>
        </p:txBody>
      </p:sp>
      <p:sp>
        <p:nvSpPr>
          <p:cNvPr id="22" name="Text 20"/>
          <p:cNvSpPr/>
          <p:nvPr/>
        </p:nvSpPr>
        <p:spPr>
          <a:xfrm>
            <a:off x="1975104" y="51755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Playbooks loaded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18688" y="518464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spc="7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POSITION</a:t>
            </a:r>
            <a:endParaRPr lang="en-US" sz="710" dirty="0"/>
          </a:p>
        </p:txBody>
      </p:sp>
      <p:sp>
        <p:nvSpPr>
          <p:cNvPr id="24" name="Text 22"/>
          <p:cNvSpPr/>
          <p:nvPr/>
        </p:nvSpPr>
        <p:spPr>
          <a:xfrm>
            <a:off x="4206240" y="51755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Where it sits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81344" y="1682496"/>
            <a:ext cx="5294376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pic>
        <p:nvPicPr>
          <p:cNvPr id="26" name="Image 0" descr="/home/ubuntu/agent-maestro/.maestro/redesign/screenshots/teammembermodal-A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1828800"/>
            <a:ext cx="4983480" cy="417880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473952" y="5596128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F4F2EC">
              <a:alpha val="94000"/>
            </a:srgbClr>
          </a:solidFill>
          <a:ln w="10160">
            <a:solidFill>
              <a:srgbClr val="D8D3C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5687568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10" kern="0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CURRENT UI</a:t>
            </a:r>
            <a:endParaRPr lang="en-US" sz="740" dirty="0"/>
          </a:p>
        </p:txBody>
      </p:sp>
      <p:sp>
        <p:nvSpPr>
          <p:cNvPr id="29" name="Shape 26"/>
          <p:cNvSpPr/>
          <p:nvPr/>
        </p:nvSpPr>
        <p:spPr>
          <a:xfrm>
            <a:off x="8668512" y="5614416"/>
            <a:ext cx="694944" cy="256032"/>
          </a:xfrm>
          <a:prstGeom prst="roundRect">
            <a:avLst>
              <a:gd name="adj" fmla="val 42857"/>
            </a:avLst>
          </a:prstGeom>
          <a:solidFill>
            <a:srgbClr val="ECE8DF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741664" y="5655564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Skills</a:t>
            </a:r>
            <a:endParaRPr lang="en-US" sz="720" dirty="0"/>
          </a:p>
        </p:txBody>
      </p:sp>
      <p:sp>
        <p:nvSpPr>
          <p:cNvPr id="31" name="Shape 28"/>
          <p:cNvSpPr/>
          <p:nvPr/>
        </p:nvSpPr>
        <p:spPr>
          <a:xfrm>
            <a:off x="9464040" y="5614416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ECE8DF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37192" y="5655564"/>
            <a:ext cx="6766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Memory</a:t>
            </a:r>
            <a:endParaRPr lang="en-US" sz="720" dirty="0"/>
          </a:p>
        </p:txBody>
      </p:sp>
      <p:sp>
        <p:nvSpPr>
          <p:cNvPr id="33" name="Shape 30"/>
          <p:cNvSpPr/>
          <p:nvPr/>
        </p:nvSpPr>
        <p:spPr>
          <a:xfrm>
            <a:off x="10396728" y="5614416"/>
            <a:ext cx="896112" cy="256032"/>
          </a:xfrm>
          <a:prstGeom prst="roundRect">
            <a:avLst>
              <a:gd name="adj" fmla="val 42857"/>
            </a:avLst>
          </a:prstGeom>
          <a:solidFill>
            <a:srgbClr val="ECE8DF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469880" y="5655564"/>
            <a:ext cx="749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Hierarchy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12 · DESIGN QUALITY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Turn design feedback into an executable improvement loop.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Separate exploration, decision, implementation, review, and learning.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39112" y="2523744"/>
            <a:ext cx="283464" cy="0"/>
          </a:xfrm>
          <a:prstGeom prst="line">
            <a:avLst/>
          </a:prstGeom>
          <a:noFill/>
          <a:ln w="15240">
            <a:solidFill>
              <a:srgbClr val="B26A2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4944" y="1883664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029968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13816" y="234086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BRIEF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04672" y="268833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User · problem · constraints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3666744" y="2523744"/>
            <a:ext cx="283464" cy="0"/>
          </a:xfrm>
          <a:prstGeom prst="line">
            <a:avLst/>
          </a:prstGeom>
          <a:noFill/>
          <a:ln w="15240">
            <a:solidFill>
              <a:srgbClr val="B26A2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22576" y="1883664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41448" y="2029968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2441448" y="234086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EXPLORE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2432304" y="268833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2–3 materially different paths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5294376" y="2523744"/>
            <a:ext cx="283464" cy="0"/>
          </a:xfrm>
          <a:prstGeom prst="line">
            <a:avLst/>
          </a:prstGeom>
          <a:noFill/>
          <a:ln w="15240">
            <a:solidFill>
              <a:srgbClr val="B26A2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950208" y="1883664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2029968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4069080" y="234086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CHOOSE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059936" y="268833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Decision + rejected alternatives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6922008" y="2523744"/>
            <a:ext cx="283464" cy="0"/>
          </a:xfrm>
          <a:prstGeom prst="line">
            <a:avLst/>
          </a:prstGeom>
          <a:noFill/>
          <a:ln w="15240">
            <a:solidFill>
              <a:srgbClr val="B26A2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77840" y="1883664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96712" y="2029968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5696712" y="234086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CONTRACT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5687568" y="268833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States · behavior · tokens · proof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8549640" y="2523744"/>
            <a:ext cx="283464" cy="0"/>
          </a:xfrm>
          <a:prstGeom prst="line">
            <a:avLst/>
          </a:prstGeom>
          <a:noFill/>
          <a:ln w="15240">
            <a:solidFill>
              <a:srgbClr val="B26A2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05472" y="1883664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24344" y="2029968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7324344" y="234086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BUILD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315200" y="268833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Clear ownership boundary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10177272" y="2523744"/>
            <a:ext cx="283464" cy="0"/>
          </a:xfrm>
          <a:prstGeom prst="line">
            <a:avLst/>
          </a:prstGeom>
          <a:noFill/>
          <a:ln w="15240">
            <a:solidFill>
              <a:srgbClr val="B26A2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833104" y="1883664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0E3D8"/>
          </a:solidFill>
          <a:ln w="12700">
            <a:solidFill>
              <a:srgbClr val="D8B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51976" y="2029968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8951976" y="234086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REVIEW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8942832" y="268833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Independent check</a:t>
            </a:r>
            <a:endParaRPr lang="en-US" sz="770" dirty="0"/>
          </a:p>
        </p:txBody>
      </p:sp>
      <p:sp>
        <p:nvSpPr>
          <p:cNvPr id="38" name="Shape 36"/>
          <p:cNvSpPr/>
          <p:nvPr/>
        </p:nvSpPr>
        <p:spPr>
          <a:xfrm>
            <a:off x="10460736" y="1883664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9608" y="2029968"/>
            <a:ext cx="310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07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10579608" y="234086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LEARN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10570464" y="268833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Token · component · checklist · skill</a:t>
            </a:r>
            <a:endParaRPr lang="en-US" sz="770" dirty="0"/>
          </a:p>
        </p:txBody>
      </p:sp>
      <p:sp>
        <p:nvSpPr>
          <p:cNvPr id="42" name="Shape 40"/>
          <p:cNvSpPr/>
          <p:nvPr/>
        </p:nvSpPr>
        <p:spPr>
          <a:xfrm>
            <a:off x="685800" y="3675888"/>
            <a:ext cx="6528816" cy="2084832"/>
          </a:xfrm>
          <a:prstGeom prst="roundRect">
            <a:avLst>
              <a:gd name="adj" fmla="val 3509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78408" y="3977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REVIEW AXES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05840" y="4407408"/>
            <a:ext cx="54864" cy="54864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33856" y="43525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User outcome</a:t>
            </a:r>
            <a:endParaRPr lang="en-US" sz="910" dirty="0"/>
          </a:p>
        </p:txBody>
      </p:sp>
      <p:sp>
        <p:nvSpPr>
          <p:cNvPr id="46" name="Shape 44"/>
          <p:cNvSpPr/>
          <p:nvPr/>
        </p:nvSpPr>
        <p:spPr>
          <a:xfrm>
            <a:off x="3913632" y="4407408"/>
            <a:ext cx="54864" cy="54864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41648" y="435254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Information hierarchy</a:t>
            </a:r>
            <a:endParaRPr lang="en-US" sz="910" dirty="0"/>
          </a:p>
        </p:txBody>
      </p:sp>
      <p:sp>
        <p:nvSpPr>
          <p:cNvPr id="48" name="Shape 46"/>
          <p:cNvSpPr/>
          <p:nvPr/>
        </p:nvSpPr>
        <p:spPr>
          <a:xfrm>
            <a:off x="1005840" y="4718304"/>
            <a:ext cx="54864" cy="54864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33856" y="4663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Design-system consistency</a:t>
            </a:r>
            <a:endParaRPr lang="en-US" sz="910" dirty="0"/>
          </a:p>
        </p:txBody>
      </p:sp>
      <p:sp>
        <p:nvSpPr>
          <p:cNvPr id="50" name="Shape 48"/>
          <p:cNvSpPr/>
          <p:nvPr/>
        </p:nvSpPr>
        <p:spPr>
          <a:xfrm>
            <a:off x="3913632" y="4718304"/>
            <a:ext cx="54864" cy="54864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41648" y="4663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All states + breakpoints</a:t>
            </a:r>
            <a:endParaRPr lang="en-US" sz="910" dirty="0"/>
          </a:p>
        </p:txBody>
      </p:sp>
      <p:sp>
        <p:nvSpPr>
          <p:cNvPr id="52" name="Shape 50"/>
          <p:cNvSpPr/>
          <p:nvPr/>
        </p:nvSpPr>
        <p:spPr>
          <a:xfrm>
            <a:off x="1005840" y="5029200"/>
            <a:ext cx="54864" cy="54864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33856" y="49743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Accessibility</a:t>
            </a:r>
            <a:endParaRPr lang="en-US" sz="910" dirty="0"/>
          </a:p>
        </p:txBody>
      </p:sp>
      <p:sp>
        <p:nvSpPr>
          <p:cNvPr id="54" name="Shape 52"/>
          <p:cNvSpPr/>
          <p:nvPr/>
        </p:nvSpPr>
        <p:spPr>
          <a:xfrm>
            <a:off x="3913632" y="5029200"/>
            <a:ext cx="54864" cy="54864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41648" y="49743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Correctness + regressions</a:t>
            </a:r>
            <a:endParaRPr lang="en-US" sz="910" dirty="0"/>
          </a:p>
        </p:txBody>
      </p:sp>
      <p:sp>
        <p:nvSpPr>
          <p:cNvPr id="56" name="Shape 54"/>
          <p:cNvSpPr/>
          <p:nvPr/>
        </p:nvSpPr>
        <p:spPr>
          <a:xfrm>
            <a:off x="1005840" y="5340096"/>
            <a:ext cx="54864" cy="54864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33856" y="52852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Visual evidence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7479792" y="3675888"/>
            <a:ext cx="3995928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754112" y="39776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EVERY FINDING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772400" y="437083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WHAT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8439912" y="43434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Observable issue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7772400" y="4681728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WHY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8439912" y="465429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Violated need or contract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7772400" y="4992624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FIX</a:t>
            </a:r>
            <a:endParaRPr lang="en-US" sz="720" dirty="0"/>
          </a:p>
        </p:txBody>
      </p:sp>
      <p:sp>
        <p:nvSpPr>
          <p:cNvPr id="65" name="Text 63"/>
          <p:cNvSpPr/>
          <p:nvPr/>
        </p:nvSpPr>
        <p:spPr>
          <a:xfrm>
            <a:off x="8439912" y="49651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Smallest clear correction</a:t>
            </a:r>
            <a:endParaRPr lang="en-US" sz="920" dirty="0"/>
          </a:p>
        </p:txBody>
      </p:sp>
      <p:sp>
        <p:nvSpPr>
          <p:cNvPr id="66" name="Text 64"/>
          <p:cNvSpPr/>
          <p:nvPr/>
        </p:nvSpPr>
        <p:spPr>
          <a:xfrm>
            <a:off x="7772400" y="530352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E8E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PROOF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8439912" y="527608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How review will verify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13 · COLLAB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Collaboration should share executable context—not just messages.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Repo-scoped spaces become the Agentic Product Management layer.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3310128" cy="4379976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50976" y="1956816"/>
            <a:ext cx="928116" cy="237744"/>
          </a:xfrm>
          <a:prstGeom prst="roundRect">
            <a:avLst>
              <a:gd name="adj" fmla="val 46154"/>
            </a:avLst>
          </a:prstGeom>
          <a:solidFill>
            <a:srgbClr val="E6F0E9"/>
          </a:solidFill>
          <a:ln w="8890">
            <a:solidFill>
              <a:srgbClr val="D4E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997964"/>
            <a:ext cx="7818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3E8E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BUILT NOW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950976" y="23865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 credible foundation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69264" y="2958084"/>
            <a:ext cx="73152" cy="73152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28895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Auth + repo discovery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9264" y="3287268"/>
            <a:ext cx="73152" cy="73152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32186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Public / private spaces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9264" y="3616452"/>
            <a:ext cx="73152" cy="73152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3856" y="3547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Channels + messaging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9264" y="3945636"/>
            <a:ext cx="73152" cy="73152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856" y="38770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Members roster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9264" y="4274820"/>
            <a:ext cx="73152" cy="73152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4206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Share tasks, personas, spells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9264" y="4604004"/>
            <a:ext cx="73152" cy="73152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3856" y="4535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Files + docs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69264" y="4933188"/>
            <a:ext cx="73152" cy="73152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3856" y="48646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Push / pull provenance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69264" y="5262372"/>
            <a:ext cx="73152" cy="73152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3856" y="5193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Deployed security rules + tests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97680" y="1700784"/>
            <a:ext cx="3685032" cy="4379976"/>
          </a:xfrm>
          <a:prstGeom prst="roundRect">
            <a:avLst>
              <a:gd name="adj" fmla="val 1985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0288" y="19751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THE SHARED STREAM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90288" y="2487168"/>
            <a:ext cx="3099816" cy="658368"/>
          </a:xfrm>
          <a:prstGeom prst="roundRect">
            <a:avLst>
              <a:gd name="adj" fmla="val 6944"/>
            </a:avLst>
          </a:prstGeom>
          <a:solidFill>
            <a:srgbClr val="F0E3D8"/>
          </a:solidFill>
          <a:ln w="8890">
            <a:solidFill>
              <a:srgbClr val="5B5142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2651760"/>
            <a:ext cx="292608" cy="292608"/>
          </a:xfrm>
          <a:prstGeom prst="ellipse">
            <a:avLst/>
          </a:prstGeom>
          <a:solidFill>
            <a:srgbClr val="B26A2B"/>
          </a:solidFill>
          <a:ln w="8890">
            <a:solidFill>
              <a:srgbClr val="F4F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57216" y="260604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Rhea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157216" y="283464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Design contract attached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4590288" y="3346704"/>
            <a:ext cx="3099816" cy="658368"/>
          </a:xfrm>
          <a:prstGeom prst="roundRect">
            <a:avLst>
              <a:gd name="adj" fmla="val 6944"/>
            </a:avLst>
          </a:prstGeom>
          <a:solidFill>
            <a:srgbClr val="E3EBF0"/>
          </a:solidFill>
          <a:ln w="8890">
            <a:solidFill>
              <a:srgbClr val="5B5142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3511296"/>
            <a:ext cx="292608" cy="292608"/>
          </a:xfrm>
          <a:prstGeom prst="ellipse">
            <a:avLst/>
          </a:prstGeom>
          <a:solidFill>
            <a:srgbClr val="B26A2B"/>
          </a:solidFill>
          <a:ln w="8890">
            <a:solidFill>
              <a:srgbClr val="F4F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57216" y="34655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Arun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5157216" y="369417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Pulled task #142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4590288" y="4206240"/>
            <a:ext cx="3099816" cy="658368"/>
          </a:xfrm>
          <a:prstGeom prst="roundRect">
            <a:avLst>
              <a:gd name="adj" fmla="val 6944"/>
            </a:avLst>
          </a:prstGeom>
          <a:solidFill>
            <a:srgbClr val="E6F0E9"/>
          </a:solidFill>
          <a:ln w="8890">
            <a:solidFill>
              <a:srgbClr val="5B5142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36592" y="4370832"/>
            <a:ext cx="292608" cy="292608"/>
          </a:xfrm>
          <a:prstGeom prst="ellipse">
            <a:avLst/>
          </a:prstGeom>
          <a:solidFill>
            <a:srgbClr val="3E8E5A"/>
          </a:solidFill>
          <a:ln w="8890">
            <a:solidFill>
              <a:srgbClr val="F4F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57216" y="43251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Code Reviewer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5157216" y="455371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 findings · 1 blocker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4590288" y="5230368"/>
            <a:ext cx="3099816" cy="438912"/>
          </a:xfrm>
          <a:prstGeom prst="roundRect">
            <a:avLst>
              <a:gd name="adj" fmla="val 10417"/>
            </a:avLst>
          </a:prstGeom>
          <a:solidFill>
            <a:srgbClr val="100E0A"/>
          </a:solidFill>
          <a:ln w="12700">
            <a:solidFill>
              <a:srgbClr val="4B43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5376672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@CodeReviewer review PR #42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8284464" y="1700784"/>
            <a:ext cx="3191256" cy="4379976"/>
          </a:xfrm>
          <a:prstGeom prst="roundRect">
            <a:avLst>
              <a:gd name="adj" fmla="val 2292"/>
            </a:avLst>
          </a:prstGeom>
          <a:solidFill>
            <a:srgbClr val="F0E3D8"/>
          </a:solidFill>
          <a:ln w="12700">
            <a:solidFill>
              <a:srgbClr val="D9C0A8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558784" y="1956816"/>
            <a:ext cx="585216" cy="237744"/>
          </a:xfrm>
          <a:prstGeom prst="roundRect">
            <a:avLst>
              <a:gd name="adj" fmla="val 46154"/>
            </a:avLst>
          </a:prstGeom>
          <a:solidFill>
            <a:srgbClr val="F4EBD8"/>
          </a:solidFill>
          <a:ln w="8890">
            <a:solidFill>
              <a:srgbClr val="E8DAB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31936" y="1997964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8B65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NEXT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8558784" y="23865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The killer flow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8558784" y="296265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@agent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555480" y="2990088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mention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622792" y="3529584"/>
            <a:ext cx="164592" cy="164592"/>
          </a:xfrm>
          <a:prstGeom prst="ellipse">
            <a:avLst/>
          </a:prstGeom>
          <a:solidFill>
            <a:srgbClr val="B26A2B"/>
          </a:solidFill>
          <a:ln w="8890">
            <a:solidFill>
              <a:srgbClr val="F4F2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05088" y="3703320"/>
            <a:ext cx="0" cy="283464"/>
          </a:xfrm>
          <a:prstGeom prst="line">
            <a:avLst/>
          </a:prstGeom>
          <a:noFill/>
          <a:ln w="12700">
            <a:solidFill>
              <a:srgbClr val="B26A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42832" y="34930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INVOKE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8622792" y="4005072"/>
            <a:ext cx="164592" cy="164592"/>
          </a:xfrm>
          <a:prstGeom prst="ellipse">
            <a:avLst/>
          </a:prstGeom>
          <a:solidFill>
            <a:srgbClr val="B26A2B"/>
          </a:solidFill>
          <a:ln w="8890">
            <a:solidFill>
              <a:srgbClr val="F4F2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05088" y="4178808"/>
            <a:ext cx="0" cy="283464"/>
          </a:xfrm>
          <a:prstGeom prst="line">
            <a:avLst/>
          </a:prstGeom>
          <a:noFill/>
          <a:ln w="12700">
            <a:solidFill>
              <a:srgbClr val="B26A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42832" y="396849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WORK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8622792" y="4480560"/>
            <a:ext cx="164592" cy="164592"/>
          </a:xfrm>
          <a:prstGeom prst="ellipse">
            <a:avLst/>
          </a:prstGeom>
          <a:solidFill>
            <a:srgbClr val="B26A2B"/>
          </a:solidFill>
          <a:ln w="8890">
            <a:solidFill>
              <a:srgbClr val="F4F2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05088" y="4654296"/>
            <a:ext cx="0" cy="283464"/>
          </a:xfrm>
          <a:prstGeom prst="line">
            <a:avLst/>
          </a:prstGeom>
          <a:noFill/>
          <a:ln w="12700">
            <a:solidFill>
              <a:srgbClr val="B26A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42832" y="444398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 RESULT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8622792" y="4956048"/>
            <a:ext cx="164592" cy="164592"/>
          </a:xfrm>
          <a:prstGeom prst="ellipse">
            <a:avLst/>
          </a:prstGeom>
          <a:solidFill>
            <a:srgbClr val="3E8E5A"/>
          </a:solidFill>
          <a:ln w="8890">
            <a:solidFill>
              <a:srgbClr val="F4F2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42832" y="491947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CONTINUE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8567928" y="545896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Humans and agents share the same work context, attribution, and history.</a:t>
            </a:r>
            <a:endParaRPr lang="en-US" sz="8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14 · COMPETITIVE REALITY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Native orchestration is improving. That validates the category.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Maestro cannot win on “they do not orchestrate.” It must win on neutrality, continuity, and workflow discipline.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19072"/>
            <a:ext cx="2377440" cy="548640"/>
          </a:xfrm>
          <a:prstGeom prst="rect">
            <a:avLst/>
          </a:prstGeom>
          <a:solidFill>
            <a:srgbClr val="23201B"/>
          </a:solidFill>
          <a:ln w="6350">
            <a:solidFill>
              <a:srgbClr val="2320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883664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PRODUCT TYPE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3063240" y="1719072"/>
            <a:ext cx="1463040" cy="548640"/>
          </a:xfrm>
          <a:prstGeom prst="rect">
            <a:avLst/>
          </a:prstGeom>
          <a:solidFill>
            <a:srgbClr val="23201B"/>
          </a:solidFill>
          <a:ln w="6350">
            <a:solidFill>
              <a:srgbClr val="2320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18836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MULTI-AGENT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4526280" y="1719072"/>
            <a:ext cx="1600200" cy="548640"/>
          </a:xfrm>
          <a:prstGeom prst="rect">
            <a:avLst/>
          </a:prstGeom>
          <a:solidFill>
            <a:srgbClr val="23201B"/>
          </a:solidFill>
          <a:ln w="6350">
            <a:solidFill>
              <a:srgbClr val="2320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883664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CROSS-PROVIDER</a:t>
            </a:r>
            <a:endParaRPr lang="en-US" sz="710" dirty="0"/>
          </a:p>
        </p:txBody>
      </p:sp>
      <p:sp>
        <p:nvSpPr>
          <p:cNvPr id="14" name="Shape 12"/>
          <p:cNvSpPr/>
          <p:nvPr/>
        </p:nvSpPr>
        <p:spPr>
          <a:xfrm>
            <a:off x="6126480" y="1719072"/>
            <a:ext cx="1572768" cy="548640"/>
          </a:xfrm>
          <a:prstGeom prst="rect">
            <a:avLst/>
          </a:prstGeom>
          <a:solidFill>
            <a:srgbClr val="23201B"/>
          </a:solidFill>
          <a:ln w="6350">
            <a:solidFill>
              <a:srgbClr val="2320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88366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DURABLE WORK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7699248" y="1719072"/>
            <a:ext cx="1691640" cy="548640"/>
          </a:xfrm>
          <a:prstGeom prst="rect">
            <a:avLst/>
          </a:prstGeom>
          <a:solidFill>
            <a:srgbClr val="23201B"/>
          </a:solidFill>
          <a:ln w="6350">
            <a:solidFill>
              <a:srgbClr val="2320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88366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VERIFICATION</a:t>
            </a:r>
            <a:endParaRPr lang="en-US" sz="710" dirty="0"/>
          </a:p>
        </p:txBody>
      </p:sp>
      <p:sp>
        <p:nvSpPr>
          <p:cNvPr id="18" name="Shape 16"/>
          <p:cNvSpPr/>
          <p:nvPr/>
        </p:nvSpPr>
        <p:spPr>
          <a:xfrm>
            <a:off x="9390888" y="1719072"/>
            <a:ext cx="1938528" cy="548640"/>
          </a:xfrm>
          <a:prstGeom prst="rect">
            <a:avLst/>
          </a:prstGeom>
          <a:solidFill>
            <a:srgbClr val="23201B"/>
          </a:solidFill>
          <a:ln w="6350">
            <a:solidFill>
              <a:srgbClr val="2320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1883664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COLLAB AROUND WORK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685800" y="2267712"/>
            <a:ext cx="23774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25054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Provider-native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3063240" y="2267712"/>
            <a:ext cx="14630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72968" y="2478024"/>
            <a:ext cx="1243584" cy="283464"/>
          </a:xfrm>
          <a:prstGeom prst="roundRect">
            <a:avLst>
              <a:gd name="adj" fmla="val 38710"/>
            </a:avLst>
          </a:prstGeom>
          <a:solidFill>
            <a:srgbClr val="FBFAF6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5191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strong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4526280" y="2267712"/>
            <a:ext cx="16002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2478024"/>
            <a:ext cx="1380744" cy="283464"/>
          </a:xfrm>
          <a:prstGeom prst="roundRect">
            <a:avLst>
              <a:gd name="adj" fmla="val 38710"/>
            </a:avLst>
          </a:prstGeom>
          <a:solidFill>
            <a:srgbClr val="F4EBD8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51917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8B65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one</a:t>
            </a:r>
            <a:endParaRPr lang="en-US" sz="710" dirty="0"/>
          </a:p>
        </p:txBody>
      </p:sp>
      <p:sp>
        <p:nvSpPr>
          <p:cNvPr id="28" name="Shape 26"/>
          <p:cNvSpPr/>
          <p:nvPr/>
        </p:nvSpPr>
        <p:spPr>
          <a:xfrm>
            <a:off x="6126480" y="2267712"/>
            <a:ext cx="1572768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6208" y="2478024"/>
            <a:ext cx="1353312" cy="283464"/>
          </a:xfrm>
          <a:prstGeom prst="roundRect">
            <a:avLst>
              <a:gd name="adj" fmla="val 38710"/>
            </a:avLst>
          </a:prstGeom>
          <a:solidFill>
            <a:srgbClr val="F4EBD8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51917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8B65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provider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7699248" y="2267712"/>
            <a:ext cx="16916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08976" y="2478024"/>
            <a:ext cx="1472184" cy="283464"/>
          </a:xfrm>
          <a:prstGeom prst="roundRect">
            <a:avLst>
              <a:gd name="adj" fmla="val 38710"/>
            </a:avLst>
          </a:prstGeom>
          <a:solidFill>
            <a:srgbClr val="FBFAF6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82128" y="25191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growing</a:t>
            </a:r>
            <a:endParaRPr lang="en-US" sz="710" dirty="0"/>
          </a:p>
        </p:txBody>
      </p:sp>
      <p:sp>
        <p:nvSpPr>
          <p:cNvPr id="34" name="Shape 32"/>
          <p:cNvSpPr/>
          <p:nvPr/>
        </p:nvSpPr>
        <p:spPr>
          <a:xfrm>
            <a:off x="9390888" y="2267712"/>
            <a:ext cx="1938528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00616" y="2478024"/>
            <a:ext cx="1719072" cy="283464"/>
          </a:xfrm>
          <a:prstGeom prst="roundRect">
            <a:avLst>
              <a:gd name="adj" fmla="val 38710"/>
            </a:avLst>
          </a:prstGeom>
          <a:solidFill>
            <a:srgbClr val="F4EBD8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73768" y="251917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8B65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provider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685800" y="2980944"/>
            <a:ext cx="2377440" cy="713232"/>
          </a:xfrm>
          <a:prstGeom prst="rect">
            <a:avLst/>
          </a:prstGeom>
          <a:solidFill>
            <a:srgbClr val="FBFAF6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" y="321868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IDE-native agent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3063240" y="2980944"/>
            <a:ext cx="1463040" cy="713232"/>
          </a:xfrm>
          <a:prstGeom prst="rect">
            <a:avLst/>
          </a:prstGeom>
          <a:solidFill>
            <a:srgbClr val="FBFAF6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72968" y="3191256"/>
            <a:ext cx="1243584" cy="283464"/>
          </a:xfrm>
          <a:prstGeom prst="roundRect">
            <a:avLst>
              <a:gd name="adj" fmla="val 38710"/>
            </a:avLst>
          </a:prstGeom>
          <a:solidFill>
            <a:srgbClr val="FBFAF6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32324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growing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4526280" y="2980944"/>
            <a:ext cx="1600200" cy="713232"/>
          </a:xfrm>
          <a:prstGeom prst="rect">
            <a:avLst/>
          </a:prstGeom>
          <a:solidFill>
            <a:srgbClr val="FBFAF6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36008" y="3191256"/>
            <a:ext cx="1380744" cy="283464"/>
          </a:xfrm>
          <a:prstGeom prst="roundRect">
            <a:avLst>
              <a:gd name="adj" fmla="val 38710"/>
            </a:avLst>
          </a:prstGeom>
          <a:solidFill>
            <a:srgbClr val="F4EBD8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2324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8B65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limited</a:t>
            </a:r>
            <a:endParaRPr lang="en-US" sz="710" dirty="0"/>
          </a:p>
        </p:txBody>
      </p:sp>
      <p:sp>
        <p:nvSpPr>
          <p:cNvPr id="45" name="Shape 43"/>
          <p:cNvSpPr/>
          <p:nvPr/>
        </p:nvSpPr>
        <p:spPr>
          <a:xfrm>
            <a:off x="6126480" y="2980944"/>
            <a:ext cx="1572768" cy="713232"/>
          </a:xfrm>
          <a:prstGeom prst="rect">
            <a:avLst/>
          </a:prstGeom>
          <a:solidFill>
            <a:srgbClr val="FBFAF6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6208" y="3191256"/>
            <a:ext cx="1353312" cy="283464"/>
          </a:xfrm>
          <a:prstGeom prst="roundRect">
            <a:avLst>
              <a:gd name="adj" fmla="val 38710"/>
            </a:avLst>
          </a:prstGeom>
          <a:solidFill>
            <a:srgbClr val="F4EBD8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23240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8B65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editor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7699248" y="2980944"/>
            <a:ext cx="1691640" cy="713232"/>
          </a:xfrm>
          <a:prstGeom prst="rect">
            <a:avLst/>
          </a:prstGeom>
          <a:solidFill>
            <a:srgbClr val="FBFAF6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08976" y="3191256"/>
            <a:ext cx="1472184" cy="283464"/>
          </a:xfrm>
          <a:prstGeom prst="roundRect">
            <a:avLst>
              <a:gd name="adj" fmla="val 38710"/>
            </a:avLst>
          </a:prstGeom>
          <a:solidFill>
            <a:srgbClr val="FBFAF6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82128" y="32324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diff-led</a:t>
            </a:r>
            <a:endParaRPr lang="en-US" sz="710" dirty="0"/>
          </a:p>
        </p:txBody>
      </p:sp>
      <p:sp>
        <p:nvSpPr>
          <p:cNvPr id="51" name="Shape 49"/>
          <p:cNvSpPr/>
          <p:nvPr/>
        </p:nvSpPr>
        <p:spPr>
          <a:xfrm>
            <a:off x="9390888" y="2980944"/>
            <a:ext cx="1938528" cy="713232"/>
          </a:xfrm>
          <a:prstGeom prst="rect">
            <a:avLst/>
          </a:prstGeom>
          <a:solidFill>
            <a:srgbClr val="FBFAF6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00616" y="3191256"/>
            <a:ext cx="1719072" cy="283464"/>
          </a:xfrm>
          <a:prstGeom prst="roundRect">
            <a:avLst>
              <a:gd name="adj" fmla="val 38710"/>
            </a:avLst>
          </a:prstGeom>
          <a:solidFill>
            <a:srgbClr val="F4EBD8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73768" y="323240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8B65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secondary</a:t>
            </a:r>
            <a:endParaRPr lang="en-US" sz="710" dirty="0"/>
          </a:p>
        </p:txBody>
      </p:sp>
      <p:sp>
        <p:nvSpPr>
          <p:cNvPr id="54" name="Shape 52"/>
          <p:cNvSpPr/>
          <p:nvPr/>
        </p:nvSpPr>
        <p:spPr>
          <a:xfrm>
            <a:off x="685800" y="3694176"/>
            <a:ext cx="23774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2104" y="39319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Generic PM / chat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3063240" y="3694176"/>
            <a:ext cx="14630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172968" y="3904488"/>
            <a:ext cx="1243584" cy="283464"/>
          </a:xfrm>
          <a:prstGeom prst="roundRect">
            <a:avLst>
              <a:gd name="adj" fmla="val 38710"/>
            </a:avLst>
          </a:prstGeom>
          <a:solidFill>
            <a:srgbClr val="F5E4E1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46120" y="394563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BB4D3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none</a:t>
            </a:r>
            <a:endParaRPr lang="en-US" sz="710" dirty="0"/>
          </a:p>
        </p:txBody>
      </p:sp>
      <p:sp>
        <p:nvSpPr>
          <p:cNvPr id="59" name="Shape 57"/>
          <p:cNvSpPr/>
          <p:nvPr/>
        </p:nvSpPr>
        <p:spPr>
          <a:xfrm>
            <a:off x="4526280" y="3694176"/>
            <a:ext cx="16002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36008" y="3904488"/>
            <a:ext cx="1380744" cy="283464"/>
          </a:xfrm>
          <a:prstGeom prst="roundRect">
            <a:avLst>
              <a:gd name="adj" fmla="val 38710"/>
            </a:avLst>
          </a:prstGeom>
          <a:solidFill>
            <a:srgbClr val="FBFAF6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09160" y="39456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agnostic</a:t>
            </a:r>
            <a:endParaRPr lang="en-US" sz="710" dirty="0"/>
          </a:p>
        </p:txBody>
      </p:sp>
      <p:sp>
        <p:nvSpPr>
          <p:cNvPr id="62" name="Shape 60"/>
          <p:cNvSpPr/>
          <p:nvPr/>
        </p:nvSpPr>
        <p:spPr>
          <a:xfrm>
            <a:off x="6126480" y="3694176"/>
            <a:ext cx="1572768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36208" y="3904488"/>
            <a:ext cx="1353312" cy="283464"/>
          </a:xfrm>
          <a:prstGeom prst="roundRect">
            <a:avLst>
              <a:gd name="adj" fmla="val 38710"/>
            </a:avLst>
          </a:prstGeom>
          <a:solidFill>
            <a:srgbClr val="FBFAF6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394563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human</a:t>
            </a:r>
            <a:endParaRPr lang="en-US" sz="710" dirty="0"/>
          </a:p>
        </p:txBody>
      </p:sp>
      <p:sp>
        <p:nvSpPr>
          <p:cNvPr id="65" name="Shape 63"/>
          <p:cNvSpPr/>
          <p:nvPr/>
        </p:nvSpPr>
        <p:spPr>
          <a:xfrm>
            <a:off x="7699248" y="3694176"/>
            <a:ext cx="169164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08976" y="3904488"/>
            <a:ext cx="1472184" cy="283464"/>
          </a:xfrm>
          <a:prstGeom prst="roundRect">
            <a:avLst>
              <a:gd name="adj" fmla="val 38710"/>
            </a:avLst>
          </a:prstGeom>
          <a:solidFill>
            <a:srgbClr val="F4EBD8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82128" y="394563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8B65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manual</a:t>
            </a:r>
            <a:endParaRPr lang="en-US" sz="710" dirty="0"/>
          </a:p>
        </p:txBody>
      </p:sp>
      <p:sp>
        <p:nvSpPr>
          <p:cNvPr id="68" name="Shape 66"/>
          <p:cNvSpPr/>
          <p:nvPr/>
        </p:nvSpPr>
        <p:spPr>
          <a:xfrm>
            <a:off x="9390888" y="3694176"/>
            <a:ext cx="1938528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500616" y="3904488"/>
            <a:ext cx="1719072" cy="283464"/>
          </a:xfrm>
          <a:prstGeom prst="roundRect">
            <a:avLst>
              <a:gd name="adj" fmla="val 38710"/>
            </a:avLst>
          </a:prstGeom>
          <a:solidFill>
            <a:srgbClr val="FBFAF6"/>
          </a:solidFill>
          <a:ln w="8890">
            <a:solidFill>
              <a:srgbClr val="D8D3C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573768" y="394563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B564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strong</a:t>
            </a:r>
            <a:endParaRPr lang="en-US" sz="710" dirty="0"/>
          </a:p>
        </p:txBody>
      </p:sp>
      <p:sp>
        <p:nvSpPr>
          <p:cNvPr id="71" name="Shape 69"/>
          <p:cNvSpPr/>
          <p:nvPr/>
        </p:nvSpPr>
        <p:spPr>
          <a:xfrm>
            <a:off x="685800" y="4407408"/>
            <a:ext cx="2377440" cy="713232"/>
          </a:xfrm>
          <a:prstGeom prst="rect">
            <a:avLst/>
          </a:prstGeom>
          <a:solidFill>
            <a:srgbClr val="1B1810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2104" y="4645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90" kern="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</a:t>
            </a:r>
            <a:endParaRPr lang="en-US" sz="920" dirty="0"/>
          </a:p>
        </p:txBody>
      </p:sp>
      <p:sp>
        <p:nvSpPr>
          <p:cNvPr id="73" name="Shape 71"/>
          <p:cNvSpPr/>
          <p:nvPr/>
        </p:nvSpPr>
        <p:spPr>
          <a:xfrm>
            <a:off x="3063240" y="4407408"/>
            <a:ext cx="1463040" cy="713232"/>
          </a:xfrm>
          <a:prstGeom prst="rect">
            <a:avLst/>
          </a:prstGeom>
          <a:solidFill>
            <a:srgbClr val="1B1810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172968" y="4617720"/>
            <a:ext cx="1243584" cy="283464"/>
          </a:xfrm>
          <a:prstGeom prst="roundRect">
            <a:avLst>
              <a:gd name="adj" fmla="val 38710"/>
            </a:avLst>
          </a:prstGeom>
          <a:solidFill>
            <a:srgbClr val="2D372D"/>
          </a:solidFill>
          <a:ln w="8890">
            <a:solidFill>
              <a:srgbClr val="5266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46120" y="46588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8FD0A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integrates</a:t>
            </a:r>
            <a:endParaRPr lang="en-US" sz="710" dirty="0"/>
          </a:p>
        </p:txBody>
      </p:sp>
      <p:sp>
        <p:nvSpPr>
          <p:cNvPr id="76" name="Shape 74"/>
          <p:cNvSpPr/>
          <p:nvPr/>
        </p:nvSpPr>
        <p:spPr>
          <a:xfrm>
            <a:off x="4526280" y="4407408"/>
            <a:ext cx="1600200" cy="713232"/>
          </a:xfrm>
          <a:prstGeom prst="rect">
            <a:avLst/>
          </a:prstGeom>
          <a:solidFill>
            <a:srgbClr val="1B1810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36008" y="4617720"/>
            <a:ext cx="1380744" cy="283464"/>
          </a:xfrm>
          <a:prstGeom prst="roundRect">
            <a:avLst>
              <a:gd name="adj" fmla="val 38710"/>
            </a:avLst>
          </a:prstGeom>
          <a:solidFill>
            <a:srgbClr val="2D372D"/>
          </a:solidFill>
          <a:ln w="8890">
            <a:solidFill>
              <a:srgbClr val="5266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09160" y="465886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8FD0A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YES</a:t>
            </a:r>
            <a:endParaRPr lang="en-US" sz="710" dirty="0"/>
          </a:p>
        </p:txBody>
      </p:sp>
      <p:sp>
        <p:nvSpPr>
          <p:cNvPr id="79" name="Shape 77"/>
          <p:cNvSpPr/>
          <p:nvPr/>
        </p:nvSpPr>
        <p:spPr>
          <a:xfrm>
            <a:off x="6126480" y="4407408"/>
            <a:ext cx="1572768" cy="713232"/>
          </a:xfrm>
          <a:prstGeom prst="rect">
            <a:avLst/>
          </a:prstGeom>
          <a:solidFill>
            <a:srgbClr val="1B1810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36208" y="4617720"/>
            <a:ext cx="1353312" cy="283464"/>
          </a:xfrm>
          <a:prstGeom prst="roundRect">
            <a:avLst>
              <a:gd name="adj" fmla="val 38710"/>
            </a:avLst>
          </a:prstGeom>
          <a:solidFill>
            <a:srgbClr val="2D372D"/>
          </a:solidFill>
          <a:ln w="8890">
            <a:solidFill>
              <a:srgbClr val="52665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465886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8FD0A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SHARED GRAPH</a:t>
            </a:r>
            <a:endParaRPr lang="en-US" sz="710" dirty="0"/>
          </a:p>
        </p:txBody>
      </p:sp>
      <p:sp>
        <p:nvSpPr>
          <p:cNvPr id="82" name="Shape 80"/>
          <p:cNvSpPr/>
          <p:nvPr/>
        </p:nvSpPr>
        <p:spPr>
          <a:xfrm>
            <a:off x="7699248" y="4407408"/>
            <a:ext cx="1691640" cy="713232"/>
          </a:xfrm>
          <a:prstGeom prst="rect">
            <a:avLst/>
          </a:prstGeom>
          <a:solidFill>
            <a:srgbClr val="1B1810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08976" y="4617720"/>
            <a:ext cx="1472184" cy="283464"/>
          </a:xfrm>
          <a:prstGeom prst="roundRect">
            <a:avLst>
              <a:gd name="adj" fmla="val 38710"/>
            </a:avLst>
          </a:prstGeom>
          <a:solidFill>
            <a:srgbClr val="2D372D"/>
          </a:solidFill>
          <a:ln w="8890">
            <a:solidFill>
              <a:srgbClr val="5266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882128" y="465886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8FD0A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EVIDENCE GATE</a:t>
            </a:r>
            <a:endParaRPr lang="en-US" sz="710" dirty="0"/>
          </a:p>
        </p:txBody>
      </p:sp>
      <p:sp>
        <p:nvSpPr>
          <p:cNvPr id="85" name="Shape 83"/>
          <p:cNvSpPr/>
          <p:nvPr/>
        </p:nvSpPr>
        <p:spPr>
          <a:xfrm>
            <a:off x="9390888" y="4407408"/>
            <a:ext cx="1938528" cy="713232"/>
          </a:xfrm>
          <a:prstGeom prst="rect">
            <a:avLst/>
          </a:prstGeom>
          <a:solidFill>
            <a:srgbClr val="1B1810"/>
          </a:solidFill>
          <a:ln w="7620">
            <a:solidFill>
              <a:srgbClr val="D8D3C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500616" y="4617720"/>
            <a:ext cx="1719072" cy="283464"/>
          </a:xfrm>
          <a:prstGeom prst="roundRect">
            <a:avLst>
              <a:gd name="adj" fmla="val 38710"/>
            </a:avLst>
          </a:prstGeom>
          <a:solidFill>
            <a:srgbClr val="2D372D"/>
          </a:solidFill>
          <a:ln w="8890">
            <a:solidFill>
              <a:srgbClr val="52665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573768" y="465886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8FD0A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EXECUTABLE</a:t>
            </a:r>
            <a:endParaRPr lang="en-US" sz="710" dirty="0"/>
          </a:p>
        </p:txBody>
      </p:sp>
      <p:sp>
        <p:nvSpPr>
          <p:cNvPr id="88" name="Shape 86"/>
          <p:cNvSpPr/>
          <p:nvPr/>
        </p:nvSpPr>
        <p:spPr>
          <a:xfrm>
            <a:off x="685800" y="4919472"/>
            <a:ext cx="10789920" cy="804672"/>
          </a:xfrm>
          <a:prstGeom prst="roundRect">
            <a:avLst>
              <a:gd name="adj" fmla="val 9091"/>
            </a:avLst>
          </a:prstGeom>
          <a:solidFill>
            <a:srgbClr val="F0E3D8"/>
          </a:solidFill>
          <a:ln w="12700">
            <a:solidFill>
              <a:srgbClr val="D9C0A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32688" y="521208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0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STRATEGIC RULE</a:t>
            </a:r>
            <a:endParaRPr lang="en-US" sz="780" dirty="0"/>
          </a:p>
        </p:txBody>
      </p:sp>
      <p:sp>
        <p:nvSpPr>
          <p:cNvPr id="90" name="Text 88"/>
          <p:cNvSpPr/>
          <p:nvPr/>
        </p:nvSpPr>
        <p:spPr>
          <a:xfrm>
            <a:off x="2377440" y="513892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3201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Integrate provider-native strengths. Own the shared plan, ownership, evidence, and cross-tool memory.</a:t>
            </a:r>
            <a:endParaRPr lang="en-US" sz="1230" dirty="0"/>
          </a:p>
        </p:txBody>
      </p:sp>
      <p:sp>
        <p:nvSpPr>
          <p:cNvPr id="91" name="Text 89"/>
          <p:cNvSpPr/>
          <p:nvPr/>
        </p:nvSpPr>
        <p:spPr>
          <a:xfrm>
            <a:off x="749808" y="6099048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Sources: Anthropic Claude Code agent teams / parallel agents · OpenAI Codex app · Nous Hermes Agent docs (accessed July 2026)</a:t>
            </a:r>
            <a:endParaRPr lang="en-US" sz="6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15 · DURABLE ADVANTAGE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The moat is accumulated workflow memory—not another adapter.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Every completed loop should make the next loop easier, safer, and more reusable.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26280" y="2724912"/>
            <a:ext cx="3127248" cy="1746504"/>
          </a:xfrm>
          <a:prstGeom prst="ellipse">
            <a:avLst/>
          </a:prstGeom>
          <a:solidFill>
            <a:srgbClr val="1B1810"/>
          </a:solidFill>
          <a:ln w="17780">
            <a:solidFill>
              <a:srgbClr val="B26A2B"/>
            </a:solidFill>
            <a:prstDash val="solid"/>
          </a:ln>
          <a:effectLst>
            <a:outerShdw sx="100000" sy="100000" kx="0" ky="0" algn="bl" rotWithShape="0" blurRad="25400" dist="50800" dir="2700000">
              <a:srgbClr val="5A4E3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30540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COMPOUNDING ASSET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47488" y="3374136"/>
            <a:ext cx="2084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20" kern="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WORKFLOW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spc="120" kern="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MEMORY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89904" y="3593592"/>
            <a:ext cx="-3941064" cy="-832104"/>
          </a:xfrm>
          <a:prstGeom prst="line">
            <a:avLst/>
          </a:prstGeom>
          <a:noFill/>
          <a:ln w="12700">
            <a:solidFill>
              <a:srgbClr val="D8D3C6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85416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340864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REAL RUNS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987552" y="267004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Tasks + evidence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089904" y="3593592"/>
            <a:ext cx="9144" cy="-1335024"/>
          </a:xfrm>
          <a:prstGeom prst="line">
            <a:avLst/>
          </a:prstGeom>
          <a:noFill/>
          <a:ln w="12700">
            <a:solidFill>
              <a:srgbClr val="D8D3C6">
                <a:alpha val="8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1682496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0E3D8"/>
          </a:solidFill>
          <a:ln w="12700">
            <a:solidFill>
              <a:srgbClr val="D9C0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837944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FEEDBACK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4937760" y="216712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Where the system breaks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089904" y="3593592"/>
            <a:ext cx="3959352" cy="-832104"/>
          </a:xfrm>
          <a:prstGeom prst="line">
            <a:avLst/>
          </a:prstGeom>
          <a:noFill/>
          <a:ln w="12700">
            <a:solidFill>
              <a:srgbClr val="D8D3C6">
                <a:alpha val="8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23376" y="2185416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87968" y="2340864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PATTERNS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8887968" y="267004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Teams + templates + skills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089904" y="3593592"/>
            <a:ext cx="3959352" cy="1472184"/>
          </a:xfrm>
          <a:prstGeom prst="line">
            <a:avLst/>
          </a:prstGeom>
          <a:noFill/>
          <a:ln w="12700">
            <a:solidFill>
              <a:srgbClr val="D8D3C6">
                <a:alpha val="8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23376" y="4489704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0E3D8"/>
          </a:solidFill>
          <a:ln w="12700">
            <a:solidFill>
              <a:srgbClr val="D9C0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87968" y="4645152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BETTER LOOPS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8887968" y="497433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Less rework + more trust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089904" y="3593592"/>
            <a:ext cx="9144" cy="1975104"/>
          </a:xfrm>
          <a:prstGeom prst="line">
            <a:avLst/>
          </a:prstGeom>
          <a:noFill/>
          <a:ln w="12700">
            <a:solidFill>
              <a:srgbClr val="D8D3C6">
                <a:alpha val="8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4992624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5148072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PROOF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4937760" y="547725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Outcome stories + reuse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089904" y="3593592"/>
            <a:ext cx="-3941064" cy="1472184"/>
          </a:xfrm>
          <a:prstGeom prst="line">
            <a:avLst/>
          </a:prstGeom>
          <a:noFill/>
          <a:ln w="12700">
            <a:solidFill>
              <a:srgbClr val="D8D3C6">
                <a:alpha val="8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4489704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0E3D8"/>
          </a:solidFill>
          <a:ln w="12700">
            <a:solidFill>
              <a:srgbClr val="D9C0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4645152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COMMUNITY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987552" y="497433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More builders + artifacts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4526280" y="2724912"/>
            <a:ext cx="3127248" cy="1746504"/>
          </a:xfrm>
          <a:prstGeom prst="ellipse">
            <a:avLst/>
          </a:prstGeom>
          <a:solidFill>
            <a:srgbClr val="1B1810"/>
          </a:solidFill>
          <a:ln w="17780">
            <a:solidFill>
              <a:srgbClr val="B26A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0540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COMPOUNDING ASSET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47488" y="3374136"/>
            <a:ext cx="2084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20" kern="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WORKFLOW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spc="120" kern="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MEMORY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828800" y="6153912"/>
            <a:ext cx="8522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564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Adapters widen the network. The reusable organization inside the network creates switching value.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16 · GO TO MARKET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Community before cloud. Outcomes before monetization.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immediate goal is 100–1,000 retained builders who repeatedly complete real work.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3840480" cy="4251960"/>
          </a:xfrm>
          <a:prstGeom prst="roundRect">
            <a:avLst>
              <a:gd name="adj" fmla="val 1905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33272" y="216712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100 → 1,000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26A2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retained power users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261872" y="3456432"/>
            <a:ext cx="2679192" cy="0"/>
          </a:xfrm>
          <a:prstGeom prst="line">
            <a:avLst/>
          </a:prstGeom>
          <a:noFill/>
          <a:ln w="12700">
            <a:solidFill>
              <a:srgbClr val="514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822192"/>
            <a:ext cx="3017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goal is not reach. It is repeated, verified work—and visible proof that the workflow improves.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1581912" y="5248656"/>
            <a:ext cx="2075688" cy="301752"/>
          </a:xfrm>
          <a:prstGeom prst="roundRect">
            <a:avLst>
              <a:gd name="adj" fmla="val 36364"/>
            </a:avLst>
          </a:prstGeom>
          <a:solidFill>
            <a:srgbClr val="302A21"/>
          </a:solidFill>
          <a:ln w="8890">
            <a:solidFill>
              <a:srgbClr val="5148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55064" y="528980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 CLOUD RUSH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828032" y="1719072"/>
            <a:ext cx="3090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188366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spc="8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X / TWITTER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4992624" y="216712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Founder build logs, 60-second workflow clips, honest failure reports.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174736" y="1719072"/>
            <a:ext cx="3090672" cy="1078992"/>
          </a:xfrm>
          <a:prstGeom prst="roundRect">
            <a:avLst>
              <a:gd name="adj" fmla="val 6780"/>
            </a:avLst>
          </a:prstGeom>
          <a:solidFill>
            <a:srgbClr val="F0E3D8"/>
          </a:solidFill>
          <a:ln w="12700">
            <a:solidFill>
              <a:srgbClr val="D9C0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1883664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spc="8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WEEKLY MAESTRO RUN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8339328" y="216712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objective, task tree, agent mix, evidence, outcome.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828032" y="3026664"/>
            <a:ext cx="3090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3191256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spc="8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WORKFLOW LIBRARY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4992624" y="3474720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Templates, team members, review rubrics, skills, spells.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174736" y="3026664"/>
            <a:ext cx="3090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3191256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spc="8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OFFICE HOURS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8339328" y="3474720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Onboard live. Watch where users fail. Fix recurring blockers.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828032" y="4334256"/>
            <a:ext cx="3090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4498848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spc="8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 FEEDBACK LOOP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4992624" y="478231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Show which user feedback changed the product and why.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8174736" y="4334256"/>
            <a:ext cx="309067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4498848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spc="8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LOCAL / FREE PATH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8339328" y="478231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Ollama and curated models for the broader creator audience—later.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828032" y="5660136"/>
            <a:ext cx="6437376" cy="347472"/>
          </a:xfrm>
          <a:prstGeom prst="roundRect">
            <a:avLst>
              <a:gd name="adj" fmla="val 10526"/>
            </a:avLst>
          </a:prstGeom>
          <a:solidFill>
            <a:srgbClr val="E6F0E9"/>
          </a:solidFill>
          <a:ln w="10160">
            <a:solidFill>
              <a:srgbClr val="CEE0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576986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80" kern="0" dirty="0">
                <a:solidFill>
                  <a:srgbClr val="3E8E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ACQUISITION HOOK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6583680" y="5733288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“If your AI team lives across six terminals and your memory, you have an operating-system problem.”</a:t>
            </a:r>
            <a:endParaRPr lang="en-US" sz="8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17 · SEQUENCE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Improve the loop, widen the ecosystem, then earn the cloud.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Roadmap order follows user pull and retention—not feature count.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682496"/>
            <a:ext cx="2514600" cy="3099816"/>
          </a:xfrm>
          <a:prstGeom prst="roundRect">
            <a:avLst>
              <a:gd name="adj" fmla="val 2909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911096"/>
            <a:ext cx="516636" cy="237744"/>
          </a:xfrm>
          <a:prstGeom prst="roundRect">
            <a:avLst>
              <a:gd name="adj" fmla="val 46154"/>
            </a:avLst>
          </a:prstGeom>
          <a:solidFill>
            <a:srgbClr val="E6F0E9"/>
          </a:solidFill>
          <a:ln w="8890">
            <a:solidFill>
              <a:srgbClr val="D4E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52244"/>
            <a:ext cx="3703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3E8E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NOW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914400" y="2528316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45973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Desktop + browser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914400" y="2894076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82549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Tasks · sessions · teams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14400" y="3259836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19125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Multi-runtime control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14400" y="3625596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55701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Git / worktrees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14400" y="3991356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92277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Collab foundation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3429000" y="1682496"/>
            <a:ext cx="2514600" cy="3099816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30168" y="1911096"/>
            <a:ext cx="585216" cy="237744"/>
          </a:xfrm>
          <a:prstGeom prst="roundRect">
            <a:avLst>
              <a:gd name="adj" fmla="val 46154"/>
            </a:avLst>
          </a:prstGeom>
          <a:solidFill>
            <a:srgbClr val="F4EBD8"/>
          </a:solidFill>
          <a:ln w="8890">
            <a:solidFill>
              <a:srgbClr val="E8DA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1952244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8B65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NEXT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3657600" y="252831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192" y="245973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Guided first run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3657600" y="289407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282549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Task contracts + claims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657600" y="325983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319125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Evidence + review gates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3657600" y="362559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22192" y="355701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Design workflow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3657600" y="399135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22192" y="392277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Mobile approvals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3657600" y="435711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22192" y="428853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Agent-in-Collab flow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172200" y="1682496"/>
            <a:ext cx="2514600" cy="3099816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73368" y="1911096"/>
            <a:ext cx="585216" cy="237744"/>
          </a:xfrm>
          <a:prstGeom prst="roundRect">
            <a:avLst>
              <a:gd name="adj" fmla="val 46154"/>
            </a:avLst>
          </a:prstGeom>
          <a:solidFill>
            <a:srgbClr val="E3EBF0"/>
          </a:solidFill>
          <a:ln w="8890">
            <a:solidFill>
              <a:srgbClr val="CB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1952244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3F6C9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THEN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6400800" y="252831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245973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Provider adapter SDK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400800" y="289407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65392" y="282549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Ollama / local models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6400800" y="325983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319125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Grok · Llama · Kimi · GLM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6400800" y="362559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355701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Portable workflow library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8915400" y="1682496"/>
            <a:ext cx="2514600" cy="3099816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16568" y="1911096"/>
            <a:ext cx="653796" cy="237744"/>
          </a:xfrm>
          <a:prstGeom prst="roundRect">
            <a:avLst>
              <a:gd name="adj" fmla="val 46154"/>
            </a:avLst>
          </a:prstGeom>
          <a:solidFill>
            <a:srgbClr val="F0E3D8"/>
          </a:solidFill>
          <a:ln w="8890">
            <a:solidFill>
              <a:srgbClr val="DDC5A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9720" y="1952244"/>
            <a:ext cx="5074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LATER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9144000" y="252831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08592" y="245973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 sync after pull</a:t>
            </a:r>
            <a:endParaRPr lang="en-US" sz="920" dirty="0"/>
          </a:p>
        </p:txBody>
      </p:sp>
      <p:sp>
        <p:nvSpPr>
          <p:cNvPr id="52" name="Shape 50"/>
          <p:cNvSpPr/>
          <p:nvPr/>
        </p:nvSpPr>
        <p:spPr>
          <a:xfrm>
            <a:off x="9144000" y="289407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08592" y="282549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Shared org libraries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9144000" y="325983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08592" y="319125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Governance + audit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9144000" y="3625596"/>
            <a:ext cx="73152" cy="73152"/>
          </a:xfrm>
          <a:prstGeom prst="ellipse">
            <a:avLst/>
          </a:prstGeom>
          <a:solidFill>
            <a:srgbClr val="8E897B"/>
          </a:solidFill>
          <a:ln w="12700">
            <a:solidFill>
              <a:srgbClr val="8E897B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08592" y="3557016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Optional managed runtime</a:t>
            </a:r>
            <a:endParaRPr lang="en-US" sz="920" dirty="0"/>
          </a:p>
        </p:txBody>
      </p:sp>
      <p:sp>
        <p:nvSpPr>
          <p:cNvPr id="58" name="Text 56"/>
          <p:cNvSpPr/>
          <p:nvPr/>
        </p:nvSpPr>
        <p:spPr>
          <a:xfrm>
            <a:off x="704088" y="5102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NINETY-DAY OPERATING PLAN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85800" y="5413248"/>
            <a:ext cx="3364992" cy="777240"/>
          </a:xfrm>
          <a:prstGeom prst="roundRect">
            <a:avLst>
              <a:gd name="adj" fmla="val 5882"/>
            </a:avLst>
          </a:prstGeom>
          <a:solidFill>
            <a:srgbClr val="FBFAF6"/>
          </a:solidFill>
          <a:ln w="10160">
            <a:solidFill>
              <a:srgbClr val="D8D3C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2104" y="555955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DAYS 1–30</a:t>
            </a:r>
            <a:endParaRPr lang="en-US" sz="690" dirty="0"/>
          </a:p>
        </p:txBody>
      </p:sp>
      <p:sp>
        <p:nvSpPr>
          <p:cNvPr id="61" name="Text 59"/>
          <p:cNvSpPr/>
          <p:nvPr/>
        </p:nvSpPr>
        <p:spPr>
          <a:xfrm>
            <a:off x="1783080" y="553212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6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ACTIVATION</a:t>
            </a:r>
            <a:endParaRPr lang="en-US" sz="760" dirty="0"/>
          </a:p>
        </p:txBody>
      </p:sp>
      <p:sp>
        <p:nvSpPr>
          <p:cNvPr id="62" name="Text 60"/>
          <p:cNvSpPr/>
          <p:nvPr/>
        </p:nvSpPr>
        <p:spPr>
          <a:xfrm>
            <a:off x="832104" y="579729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One-task onboarding · 20–30 live onboardings · instrument first verified outcome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297680" y="5413248"/>
            <a:ext cx="3364992" cy="777240"/>
          </a:xfrm>
          <a:prstGeom prst="roundRect">
            <a:avLst>
              <a:gd name="adj" fmla="val 5882"/>
            </a:avLst>
          </a:prstGeom>
          <a:solidFill>
            <a:srgbClr val="F0E3D8"/>
          </a:solidFill>
          <a:ln w="10160">
            <a:solidFill>
              <a:srgbClr val="D9C0A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43984" y="555955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DAYS 31–60</a:t>
            </a:r>
            <a:endParaRPr lang="en-US" sz="690" dirty="0"/>
          </a:p>
        </p:txBody>
      </p:sp>
      <p:sp>
        <p:nvSpPr>
          <p:cNvPr id="65" name="Text 63"/>
          <p:cNvSpPr/>
          <p:nvPr/>
        </p:nvSpPr>
        <p:spPr>
          <a:xfrm>
            <a:off x="5394960" y="553212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6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RETENTION</a:t>
            </a:r>
            <a:endParaRPr lang="en-US" sz="760" dirty="0"/>
          </a:p>
        </p:txBody>
      </p:sp>
      <p:sp>
        <p:nvSpPr>
          <p:cNvPr id="66" name="Text 64"/>
          <p:cNvSpPr/>
          <p:nvPr/>
        </p:nvSpPr>
        <p:spPr>
          <a:xfrm>
            <a:off x="4443984" y="579729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Evidence bundles · reusable starter teams · multi-provider reliability · weekly public runs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909560" y="5413248"/>
            <a:ext cx="3364992" cy="777240"/>
          </a:xfrm>
          <a:prstGeom prst="roundRect">
            <a:avLst>
              <a:gd name="adj" fmla="val 5882"/>
            </a:avLst>
          </a:prstGeom>
          <a:solidFill>
            <a:srgbClr val="FBFAF6"/>
          </a:solidFill>
          <a:ln w="10160">
            <a:solidFill>
              <a:srgbClr val="D8D3C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055864" y="555955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DAYS 61–90</a:t>
            </a:r>
            <a:endParaRPr lang="en-US" sz="690" dirty="0"/>
          </a:p>
        </p:txBody>
      </p:sp>
      <p:sp>
        <p:nvSpPr>
          <p:cNvPr id="69" name="Text 67"/>
          <p:cNvSpPr/>
          <p:nvPr/>
        </p:nvSpPr>
        <p:spPr>
          <a:xfrm>
            <a:off x="9006840" y="553212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60" kern="0" dirty="0">
                <a:solidFill>
                  <a:srgbClr val="2320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COMMUNITY PROOF</a:t>
            </a:r>
            <a:endParaRPr lang="en-US" sz="760" dirty="0"/>
          </a:p>
        </p:txBody>
      </p:sp>
      <p:sp>
        <p:nvSpPr>
          <p:cNvPr id="70" name="Text 68"/>
          <p:cNvSpPr/>
          <p:nvPr/>
        </p:nvSpPr>
        <p:spPr>
          <a:xfrm>
            <a:off x="8055864" y="579729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Workflow library · five case studies · Collab sharing · choose next bets from observed use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18 · OPERATING DISCIPLINE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Measure verified progress. Design against the obvious risks.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Avoid vanity metrics that reward motion without outcomes.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4059936" cy="4425696"/>
          </a:xfrm>
          <a:prstGeom prst="roundRect">
            <a:avLst>
              <a:gd name="adj" fmla="val 1802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NORTH STAR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24128" y="248716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spc="100" kern="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VERIFIED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spc="100" kern="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WORK LOOPS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170432" y="3456432"/>
            <a:ext cx="3108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26A2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per weekly active user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25296" y="4032504"/>
            <a:ext cx="2971800" cy="0"/>
          </a:xfrm>
          <a:prstGeom prst="line">
            <a:avLst/>
          </a:prstGeom>
          <a:noFill/>
          <a:ln w="12700">
            <a:solidFill>
              <a:srgbClr val="514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384548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315968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Time to first verified outcome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1005840" y="466801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4599432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Week 1 / week 4 retained builders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05840" y="4951476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4882896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% tasks with owner + acceptance + evidence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1005840" y="5234940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5166360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Templates / team members reused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1005840" y="5518404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5449824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Users running more than one provider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1005840" y="5801868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5733288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Outcome stories with before / after proof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5065776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RISKS → RESPONSES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38344" y="2084832"/>
            <a:ext cx="6437376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48656" y="224028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B4D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Frontier bundling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958584" y="220370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6A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33488" y="220370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Own cross-provider workflow; integrate native capabilities.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5038344" y="2752344"/>
            <a:ext cx="6437376" cy="521208"/>
          </a:xfrm>
          <a:prstGeom prst="roundRect">
            <a:avLst>
              <a:gd name="adj" fmla="val 14035"/>
            </a:avLst>
          </a:prstGeom>
          <a:solidFill>
            <a:srgbClr val="FBFAF6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48656" y="290779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B4D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Complexity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958584" y="287121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6A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33488" y="287121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Teach one closed loop; reveal power progressively.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5038344" y="3419856"/>
            <a:ext cx="6437376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48656" y="357530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B4D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Low-quality agent output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958584" y="35387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6A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33488" y="353872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Make evidence, review roles, and checkpoints first-class.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5038344" y="4087368"/>
            <a:ext cx="6437376" cy="521208"/>
          </a:xfrm>
          <a:prstGeom prst="roundRect">
            <a:avLst>
              <a:gd name="adj" fmla="val 14035"/>
            </a:avLst>
          </a:prstGeom>
          <a:solidFill>
            <a:srgbClr val="FBFAF6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48656" y="42428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B4D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Vague “everything” story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6958584" y="42062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6A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33488" y="420624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Keep the wedge: multi-agent software delivery for power users.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5038344" y="4754880"/>
            <a:ext cx="6437376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48656" y="491032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B4D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Integration churn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6958584" y="48737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6A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33488" y="487375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Explicit adapters, capability detection, graceful fallback.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5038344" y="5422392"/>
            <a:ext cx="6437376" cy="521208"/>
          </a:xfrm>
          <a:prstGeom prst="roundRect">
            <a:avLst>
              <a:gd name="adj" fmla="val 14035"/>
            </a:avLst>
          </a:prstGeom>
          <a:solidFill>
            <a:srgbClr val="FBFAF6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48656" y="557784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B4D3D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Slack-clone drift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6958584" y="554126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6A2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33488" y="554126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Tie every conversation to executable work objects.</a:t>
            </a:r>
            <a:endParaRPr lang="en-US" sz="870" dirty="0"/>
          </a:p>
        </p:txBody>
      </p:sp>
      <p:sp>
        <p:nvSpPr>
          <p:cNvPr id="50" name="Text 48"/>
          <p:cNvSpPr/>
          <p:nvPr/>
        </p:nvSpPr>
        <p:spPr>
          <a:xfrm>
            <a:off x="5093208" y="6144768"/>
            <a:ext cx="6309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 not optimize for: total sessions · total tasks created · raw signups · token volume without outcomes</a:t>
            </a:r>
            <a:endParaRPr lang="en-US" sz="7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 · NARRATIVE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Lead with control. Prove it with the workflow.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message should sound like a builder sharing a solved problem—not a category essay.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6675120" cy="4389120"/>
          </a:xfrm>
          <a:prstGeom prst="roundRect">
            <a:avLst>
              <a:gd name="adj" fmla="val 1667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0116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PRIMARY HEADLINE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87552" y="2468880"/>
            <a:ext cx="54681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Orchestrate any agent.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Keep control of the work.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1024128" y="3803904"/>
            <a:ext cx="5404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0B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Maestro turns ideas into owned, observable, verified work across Claude, Codex, Hermes—and whatever you use next.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5047488"/>
            <a:ext cx="5276088" cy="539496"/>
          </a:xfrm>
          <a:prstGeom prst="roundRect">
            <a:avLst>
              <a:gd name="adj" fmla="val 8475"/>
            </a:avLst>
          </a:prstGeom>
          <a:solidFill>
            <a:srgbClr val="2D2820"/>
          </a:solidFill>
          <a:ln w="10160">
            <a:solidFill>
              <a:srgbClr val="4F46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5230368"/>
            <a:ext cx="48737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spc="12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FREEDOM OF TOOLS.  DISCIPLINE OF PROCESS.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7626096" y="1691640"/>
            <a:ext cx="384962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36992" y="1993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FOUNDER STORY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27848" y="2377440"/>
            <a:ext cx="3227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“I did not build Maestro because agents could not code. I built it because my process stopped scaling when I used more of them.”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626096" y="4014216"/>
            <a:ext cx="3849624" cy="2066544"/>
          </a:xfrm>
          <a:prstGeom prst="roundRect">
            <a:avLst>
              <a:gd name="adj" fmla="val 3540"/>
            </a:avLst>
          </a:prstGeom>
          <a:solidFill>
            <a:srgbClr val="F0E3D8"/>
          </a:solidFill>
          <a:ln w="12700">
            <a:solidFill>
              <a:srgbClr val="D9C0A8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36992" y="43159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COMMUNITY CTA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918704" y="4709160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Bring one painful workflow.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Run it through Maestro.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Show us where the system breaks.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20 · STRATEGY ON ONE PAGE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One wedge. One loop. One open control plane.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decision summary.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33558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828800"/>
            <a:ext cx="2999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WHO FIRST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859536" y="211226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Power users of Claude, Codex, and Hermes already coordinating multiple sessions.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06824" y="1664208"/>
            <a:ext cx="33558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828800"/>
            <a:ext cx="2999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SURFACE PAIN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4480560" y="211226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Too many agents, terminals, projects, and partial contexts to track.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27848" y="1664208"/>
            <a:ext cx="3355848" cy="1143000"/>
          </a:xfrm>
          <a:prstGeom prst="roundRect">
            <a:avLst>
              <a:gd name="adj" fmla="val 6400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01584" y="1828800"/>
            <a:ext cx="2999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9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ROOT PROBLEM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8101584" y="211226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 shared system for owned, verifiable, reusable agentic work.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3081528"/>
            <a:ext cx="33558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246120"/>
            <a:ext cx="2999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CATEGORY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859536" y="352958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Agentic Product Management.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06824" y="3081528"/>
            <a:ext cx="3355848" cy="1143000"/>
          </a:xfrm>
          <a:prstGeom prst="roundRect">
            <a:avLst>
              <a:gd name="adj" fmla="val 6400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246120"/>
            <a:ext cx="2999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9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PRODUCT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4480560" y="352958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Tasks + agents + tools + Git + artifacts + review + memory + Collab.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27848" y="3081528"/>
            <a:ext cx="33558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01584" y="3246120"/>
            <a:ext cx="2999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UNIQUE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8101584" y="352958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Cross-provider freedom with disciplined process; team members as Skills++.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4498848"/>
            <a:ext cx="33558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663440"/>
            <a:ext cx="2999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MOAT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859536" y="494690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Accumulated workflow memory, reusable organization, and community artifacts.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06824" y="4498848"/>
            <a:ext cx="3355848" cy="1143000"/>
          </a:xfrm>
          <a:prstGeom prst="roundRect">
            <a:avLst>
              <a:gd name="adj" fmla="val 6400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4663440"/>
            <a:ext cx="2999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9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GOAL NOW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4480560" y="494690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100–1,000 retained builders. Improve hard. Publish proof.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27848" y="4498848"/>
            <a:ext cx="33558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01584" y="4663440"/>
            <a:ext cx="2999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9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SEQUENCE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8101584" y="4946904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Perfect the loop → expand adapters/local models → release cloud after pull.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" y="6007608"/>
            <a:ext cx="10789920" cy="347472"/>
          </a:xfrm>
          <a:prstGeom prst="roundRect">
            <a:avLst>
              <a:gd name="adj" fmla="val 10526"/>
            </a:avLst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6117336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b="1" spc="120" kern="0" dirty="0">
                <a:solidFill>
                  <a:srgbClr val="F4F2E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= THE OPEN CONTROL PLANE FOR AGENTIC PRODUCT WORK</a:t>
            </a:r>
            <a:endParaRPr lang="en-US" sz="89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APPENDIX 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Two operating templates to ship with the product.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strategy becomes valuable when it changes daily behavior.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5266944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9264" y="1956816"/>
            <a:ext cx="1065276" cy="237744"/>
          </a:xfrm>
          <a:prstGeom prst="roundRect">
            <a:avLst>
              <a:gd name="adj" fmla="val 46154"/>
            </a:avLst>
          </a:prstGeom>
          <a:solidFill>
            <a:srgbClr val="F0E3D8"/>
          </a:solidFill>
          <a:ln w="8890">
            <a:solidFill>
              <a:srgbClr val="DDC5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97964"/>
            <a:ext cx="9189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TEMPLATE 01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969264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Executable task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87552" y="2889504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OUTCOME</a:t>
            </a:r>
            <a:endParaRPr lang="en-US" sz="710" dirty="0"/>
          </a:p>
        </p:txBody>
      </p:sp>
      <p:sp>
        <p:nvSpPr>
          <p:cNvPr id="13" name="Text 11"/>
          <p:cNvSpPr/>
          <p:nvPr/>
        </p:nvSpPr>
        <p:spPr>
          <a:xfrm>
            <a:off x="2221992" y="288036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will be true?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87552" y="3200400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OWNER</a:t>
            </a:r>
            <a:endParaRPr lang="en-US" sz="710" dirty="0"/>
          </a:p>
        </p:txBody>
      </p:sp>
      <p:sp>
        <p:nvSpPr>
          <p:cNvPr id="15" name="Text 13"/>
          <p:cNvSpPr/>
          <p:nvPr/>
        </p:nvSpPr>
        <p:spPr>
          <a:xfrm>
            <a:off x="2221992" y="319125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accountable actor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987552" y="3511296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SCOPE</a:t>
            </a:r>
            <a:endParaRPr lang="en-US" sz="710" dirty="0"/>
          </a:p>
        </p:txBody>
      </p:sp>
      <p:sp>
        <p:nvSpPr>
          <p:cNvPr id="17" name="Text 15"/>
          <p:cNvSpPr/>
          <p:nvPr/>
        </p:nvSpPr>
        <p:spPr>
          <a:xfrm>
            <a:off x="2221992" y="350215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 / out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87552" y="3822192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INPUTS</a:t>
            </a:r>
            <a:endParaRPr lang="en-US" sz="710" dirty="0"/>
          </a:p>
        </p:txBody>
      </p:sp>
      <p:sp>
        <p:nvSpPr>
          <p:cNvPr id="19" name="Text 17"/>
          <p:cNvSpPr/>
          <p:nvPr/>
        </p:nvSpPr>
        <p:spPr>
          <a:xfrm>
            <a:off x="2221992" y="381304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Read first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87552" y="4133088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DEPENDENCIES</a:t>
            </a:r>
            <a:endParaRPr lang="en-US" sz="710" dirty="0"/>
          </a:p>
        </p:txBody>
      </p:sp>
      <p:sp>
        <p:nvSpPr>
          <p:cNvPr id="21" name="Text 19"/>
          <p:cNvSpPr/>
          <p:nvPr/>
        </p:nvSpPr>
        <p:spPr>
          <a:xfrm>
            <a:off x="2221992" y="412394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Blocks / unblocks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987552" y="4443984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ISOLATION</a:t>
            </a:r>
            <a:endParaRPr lang="en-US" sz="710" dirty="0"/>
          </a:p>
        </p:txBody>
      </p:sp>
      <p:sp>
        <p:nvSpPr>
          <p:cNvPr id="23" name="Text 21"/>
          <p:cNvSpPr/>
          <p:nvPr/>
        </p:nvSpPr>
        <p:spPr>
          <a:xfrm>
            <a:off x="2221992" y="443484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Worktree / read-only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987552" y="4754880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ACCEPTANCE</a:t>
            </a:r>
            <a:endParaRPr lang="en-US" sz="710" dirty="0"/>
          </a:p>
        </p:txBody>
      </p:sp>
      <p:sp>
        <p:nvSpPr>
          <p:cNvPr id="25" name="Text 23"/>
          <p:cNvSpPr/>
          <p:nvPr/>
        </p:nvSpPr>
        <p:spPr>
          <a:xfrm>
            <a:off x="2221992" y="474573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Observable checks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87552" y="5065776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EVIDENCE</a:t>
            </a:r>
            <a:endParaRPr lang="en-US" sz="710" dirty="0"/>
          </a:p>
        </p:txBody>
      </p:sp>
      <p:sp>
        <p:nvSpPr>
          <p:cNvPr id="27" name="Text 25"/>
          <p:cNvSpPr/>
          <p:nvPr/>
        </p:nvSpPr>
        <p:spPr>
          <a:xfrm>
            <a:off x="2221992" y="505663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Artifact / diff / test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87552" y="5376672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REVIEWER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2221992" y="53675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Independent judge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199632" y="1700784"/>
            <a:ext cx="5276088" cy="4462272"/>
          </a:xfrm>
          <a:prstGeom prst="roundRect">
            <a:avLst>
              <a:gd name="adj" fmla="val 1639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92240" y="1956816"/>
            <a:ext cx="1065276" cy="237744"/>
          </a:xfrm>
          <a:prstGeom prst="roundRect">
            <a:avLst>
              <a:gd name="adj" fmla="val 46154"/>
            </a:avLst>
          </a:prstGeom>
          <a:solidFill>
            <a:srgbClr val="F0E3D8"/>
          </a:solidFill>
          <a:ln w="8890">
            <a:solidFill>
              <a:srgbClr val="DDC5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1997964"/>
            <a:ext cx="9189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TEMPLATE 02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6492240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2EC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Review finding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492240" y="2907792"/>
            <a:ext cx="4425696" cy="512064"/>
          </a:xfrm>
          <a:prstGeom prst="roundRect">
            <a:avLst>
              <a:gd name="adj" fmla="val 8929"/>
            </a:avLst>
          </a:prstGeom>
          <a:solidFill>
            <a:srgbClr val="272219"/>
          </a:solidFill>
          <a:ln w="10160">
            <a:solidFill>
              <a:srgbClr val="4E45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3072384"/>
            <a:ext cx="66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WHAT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434072" y="3044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State the observable issue.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92240" y="3611880"/>
            <a:ext cx="4425696" cy="512064"/>
          </a:xfrm>
          <a:prstGeom prst="roundRect">
            <a:avLst>
              <a:gd name="adj" fmla="val 8929"/>
            </a:avLst>
          </a:prstGeom>
          <a:solidFill>
            <a:srgbClr val="272219"/>
          </a:solidFill>
          <a:ln w="10160">
            <a:solidFill>
              <a:srgbClr val="4E45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776472"/>
            <a:ext cx="66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7434072" y="37490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Name the violated user need, contract, or system rule.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4315968"/>
            <a:ext cx="4425696" cy="512064"/>
          </a:xfrm>
          <a:prstGeom prst="roundRect">
            <a:avLst>
              <a:gd name="adj" fmla="val 8929"/>
            </a:avLst>
          </a:prstGeom>
          <a:solidFill>
            <a:srgbClr val="272219"/>
          </a:solidFill>
          <a:ln w="10160">
            <a:solidFill>
              <a:srgbClr val="4E45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4480560"/>
            <a:ext cx="66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FIX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7434072" y="44531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Describe the smallest clear correction.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92240" y="5020056"/>
            <a:ext cx="4425696" cy="512064"/>
          </a:xfrm>
          <a:prstGeom prst="roundRect">
            <a:avLst>
              <a:gd name="adj" fmla="val 8929"/>
            </a:avLst>
          </a:prstGeom>
          <a:solidFill>
            <a:srgbClr val="272219"/>
          </a:solidFill>
          <a:ln w="10160">
            <a:solidFill>
              <a:srgbClr val="4E45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5184648"/>
            <a:ext cx="66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8FD0A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PROOF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7434072" y="515721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Define how the reviewer will verify it.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28816" y="5843016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C0B2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Review feedback becomes an owned improvement queue—not another conversation to remember.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38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APPENDIX B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3093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01B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Evidence base and claim discipline.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Built, next, and later are intentionally separated throughout the deck.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6510528"/>
            <a:ext cx="10945368" cy="0"/>
          </a:xfrm>
          <a:prstGeom prst="line">
            <a:avLst/>
          </a:prstGeom>
          <a:noFill/>
          <a:ln w="10160">
            <a:solidFill>
              <a:srgbClr val="E7E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653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E897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MAESTRO · STRATEGY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826496" y="654710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897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4983480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E7E3D9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78408" y="19933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INTERNAL PRODUCT EVIDENCE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87552" y="2482596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414016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README.md — desktop, CLI, browser, tasks, sessions, local-first architecture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987552" y="2866644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2798064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CLAUDE.md — domain entities, runtimes, team members, skills, Git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987552" y="325069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3182112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docs/workflow-strategies.md — queue, tree, batch, DAG coordination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987552" y="3634740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3566160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docs/TEAM_MEMBERS_UNDERSTANDING.md — identities, memory, permissions, hierarchy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987552" y="4018788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3950208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docs/collab-design/design-spec/00-OVERVIEW.md — Collab purpose and current status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987552" y="4402836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4334256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docs/COLLAB_SPACE_VERIFICATION_LOG.md — deployed rules and test evidence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987552" y="4786884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2144" y="4718304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docs/collab-design/design-spec/08-FULL-VISION-ROADMAP.md — future Collab features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987552" y="5170932"/>
            <a:ext cx="73152" cy="73152"/>
          </a:xfrm>
          <a:prstGeom prst="ellipse">
            <a:avLst/>
          </a:prstGeom>
          <a:solidFill>
            <a:srgbClr val="B26A2B"/>
          </a:solidFill>
          <a:ln w="12700">
            <a:solidFill>
              <a:srgbClr val="B26A2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52144" y="5102352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maestro-mobile/ + Maestro Design System - mobile/ — mobile foundation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925312" y="1700784"/>
            <a:ext cx="5550408" cy="2359152"/>
          </a:xfrm>
          <a:prstGeom prst="roundRect">
            <a:avLst>
              <a:gd name="adj" fmla="val 3101"/>
            </a:avLst>
          </a:prstGeom>
          <a:solidFill>
            <a:srgbClr val="1B1810"/>
          </a:solidFill>
          <a:ln w="12700">
            <a:solidFill>
              <a:srgbClr val="403A30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45352" y="199339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B26A2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CURRENT CATEGORY EVIDENCE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54496" y="2450592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Anthropic · Claude Code parallel agents and agent teams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254496" y="2724912"/>
            <a:ext cx="4736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AFA79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code.claude.com/docs/en/agents  ·  /agent-teams</a:t>
            </a:r>
            <a:endParaRPr lang="en-US" sz="710" dirty="0"/>
          </a:p>
        </p:txBody>
      </p:sp>
      <p:sp>
        <p:nvSpPr>
          <p:cNvPr id="30" name="Text 28"/>
          <p:cNvSpPr/>
          <p:nvPr/>
        </p:nvSpPr>
        <p:spPr>
          <a:xfrm>
            <a:off x="6254496" y="3072384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OpenAI · Introducing the Codex app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254496" y="3346704"/>
            <a:ext cx="4736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AFA79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openai.com/index/introducing-the-codex-app/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6254496" y="3675888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4F2E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Nous Research · Hermes Agent documentation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5925312" y="4315968"/>
            <a:ext cx="5550408" cy="1828800"/>
          </a:xfrm>
          <a:prstGeom prst="roundRect">
            <a:avLst>
              <a:gd name="adj" fmla="val 4000"/>
            </a:avLst>
          </a:prstGeom>
          <a:solidFill>
            <a:srgbClr val="F0E3D8"/>
          </a:solidFill>
          <a:ln w="12700">
            <a:solidFill>
              <a:srgbClr val="D9C0A8"/>
            </a:solidFill>
            <a:prstDash val="solid"/>
          </a:ln>
          <a:effectLst>
            <a:outerShdw sx="100000" sy="100000" kx="0" ky="0" algn="bl" rotWithShape="0" blurRad="12700" dist="50800" dir="2700000">
              <a:srgbClr val="5A4E3C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45352" y="45994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9A58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STATUS LEGEND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54496" y="5001768"/>
            <a:ext cx="928116" cy="237744"/>
          </a:xfrm>
          <a:prstGeom prst="roundRect">
            <a:avLst>
              <a:gd name="adj" fmla="val 46154"/>
            </a:avLst>
          </a:prstGeom>
          <a:solidFill>
            <a:srgbClr val="E6F0E9"/>
          </a:solidFill>
          <a:ln w="8890">
            <a:solidFill>
              <a:srgbClr val="D4E7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5042916"/>
            <a:ext cx="7818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3E8E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BUILT NOW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7479792" y="5038344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Implemented product foundation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6254496" y="5367528"/>
            <a:ext cx="585216" cy="237744"/>
          </a:xfrm>
          <a:prstGeom prst="roundRect">
            <a:avLst>
              <a:gd name="adj" fmla="val 46154"/>
            </a:avLst>
          </a:prstGeom>
          <a:solidFill>
            <a:srgbClr val="F4EBD8"/>
          </a:solidFill>
          <a:ln w="8890">
            <a:solidFill>
              <a:srgbClr val="E8DAB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5408676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8B651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NEXT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7132320" y="5404104"/>
            <a:ext cx="3867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Near-term strategic priority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6254496" y="5733288"/>
            <a:ext cx="653796" cy="237744"/>
          </a:xfrm>
          <a:prstGeom prst="roundRect">
            <a:avLst>
              <a:gd name="adj" fmla="val 46154"/>
            </a:avLst>
          </a:prstGeom>
          <a:solidFill>
            <a:srgbClr val="E3EBF0"/>
          </a:solidFill>
          <a:ln w="8890">
            <a:solidFill>
              <a:srgbClr val="CBDD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5774436"/>
            <a:ext cx="5074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spc="80" kern="0" dirty="0">
                <a:solidFill>
                  <a:srgbClr val="3F6C9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LATER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7205472" y="5769864"/>
            <a:ext cx="3794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5B564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Expansion after demonstrated pull</a:t>
            </a:r>
            <a:endParaRPr lang="en-US" sz="9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Maestro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Maestro Strategy — The open control plane for agentic product work</dc:title>
  <dc:subject>Maestro product and community strategy</dc:subject>
  <dc:creator>Maestro</dc:creator>
  <cp:lastModifiedBy>Maestro</cp:lastModifiedBy>
  <cp:revision>1</cp:revision>
  <dcterms:created xsi:type="dcterms:W3CDTF">2026-07-22T21:17:07Z</dcterms:created>
  <dcterms:modified xsi:type="dcterms:W3CDTF">2026-07-22T21:17:07Z</dcterms:modified>
</cp:coreProperties>
</file>